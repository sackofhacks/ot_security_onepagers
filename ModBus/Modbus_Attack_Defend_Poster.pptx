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0" cy="219456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15636240" cy="1298448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5636240" cy="6858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B020"/>
                </a:solidFill>
                <a:latin typeface="Segoe UI"/>
              </a:rPr>
              <a:t>MODBUS</a:t>
            </a:r>
            <a:r>
              <a:rPr sz="2200" b="1">
                <a:solidFill>
                  <a:srgbClr val="FF4D5E"/>
                </a:solidFill>
                <a:latin typeface="Segoe UI"/>
              </a:rPr>
              <a:t>     ATTACK &amp;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197864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A1B8"/>
                </a:solidFill>
                <a:latin typeface="Segoe UI"/>
              </a:rPr>
              <a:t>The oldest industrial protocol still running the world — four data banks, one byte of intent, and no authentication anywhere.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12648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E6EDF3"/>
                </a:solidFill>
                <a:latin typeface="Segoe UI"/>
              </a:rPr>
              <a:t>Modicon 1979  ·  Modbus Organization spec v1.1b3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8FA1B8"/>
                </a:solidFill>
                <a:latin typeface="Segoe UI"/>
              </a:rPr>
              <a:t>Purdue L1–L2  ·  HMI/SCADA ↔ PLC/RTU  ·  serial gateways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8FA1B8"/>
                </a:solidFill>
                <a:latin typeface="Segoe UI"/>
              </a:rPr>
              <a:t>registers are big-endian 16-bit words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Weaponised by FrostyGoop / BUSTLEBERM — Lviv, Jan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01368"/>
            <a:ext cx="15636240" cy="548640"/>
          </a:xfrm>
          <a:prstGeom prst="rect">
            <a:avLst/>
          </a:prstGeom>
          <a:solidFill>
            <a:srgbClr val="131822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1660"/>
            <a:ext cx="1517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B020"/>
                </a:solidFill>
                <a:latin typeface="Segoe UI"/>
              </a:rPr>
              <a:t>Modbus has no users, no passwords and no sessions. </a:t>
            </a:r>
            <a:r>
              <a:rPr sz="1500" b="0">
                <a:solidFill>
                  <a:srgbClr val="E6EDF3"/>
                </a:solidFill>
                <a:latin typeface="Segoe UI"/>
              </a:rPr>
              <a:t>Whoever can reach </a:t>
            </a:r>
            <a:r>
              <a:rPr sz="1500" b="1">
                <a:solidFill>
                  <a:srgbClr val="22D3EE"/>
                </a:solidFill>
                <a:latin typeface="Consolas"/>
              </a:rPr>
              <a:t>tcp/502</a:t>
            </a:r>
            <a:r>
              <a:rPr sz="1500" b="0">
                <a:solidFill>
                  <a:srgbClr val="E6EDF3"/>
                </a:solidFill>
                <a:latin typeface="Segoe UI"/>
              </a:rPr>
              <a:t> is the master. The only question left is </a:t>
            </a:r>
            <a:r>
              <a:rPr sz="1500" b="1">
                <a:solidFill>
                  <a:srgbClr val="22D3EE"/>
                </a:solidFill>
                <a:latin typeface="Consolas"/>
              </a:rPr>
              <a:t>which function code, against which register</a:t>
            </a:r>
            <a:r>
              <a:rPr sz="1500" b="0">
                <a:solidFill>
                  <a:srgbClr val="E6EDF3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87168"/>
            <a:ext cx="489204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87168"/>
            <a:ext cx="4892040" cy="36576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487168"/>
            <a:ext cx="50292" cy="358444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537460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1  </a:t>
            </a:r>
            <a:r>
              <a:rPr sz="1350" b="1">
                <a:solidFill>
                  <a:srgbClr val="0B0E14"/>
                </a:solidFill>
                <a:latin typeface="Segoe UI"/>
              </a:rPr>
              <a:t>WHERE IT LIVES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62656"/>
            <a:ext cx="448970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VARIANTS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Consolas"/>
              </a:rPr>
              <a:t>Modbus/TCP     </a:t>
            </a:r>
            <a:r>
              <a:rPr sz="900" b="0">
                <a:solidFill>
                  <a:srgbClr val="8FA1B8"/>
                </a:solidFill>
                <a:latin typeface="Segoe UI"/>
              </a:rPr>
              <a:t>MBAP header + PDU, port 502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Consolas"/>
              </a:rPr>
              <a:t>Modbus RTU     </a:t>
            </a:r>
            <a:r>
              <a:rPr sz="900" b="0">
                <a:solidFill>
                  <a:srgbClr val="8FA1B8"/>
                </a:solidFill>
                <a:latin typeface="Segoe UI"/>
              </a:rPr>
              <a:t>RS-485/232 serial, CRC-16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Consolas"/>
              </a:rPr>
              <a:t>Modbus ASCII   </a:t>
            </a:r>
            <a:r>
              <a:rPr sz="900" b="0">
                <a:solidFill>
                  <a:srgbClr val="8FA1B8"/>
                </a:solidFill>
                <a:latin typeface="Segoe UI"/>
              </a:rPr>
              <a:t>':' … CRLF framing, LRC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RTU-over-TCP   </a:t>
            </a:r>
            <a:r>
              <a:rPr sz="900" b="0">
                <a:solidFill>
                  <a:srgbClr val="8FA1B8"/>
                </a:solidFill>
                <a:latin typeface="Segoe UI"/>
              </a:rPr>
              <a:t>raw serial ADU in TCP — </a:t>
            </a:r>
            <a:r>
              <a:rPr sz="900" b="1">
                <a:solidFill>
                  <a:srgbClr val="FF4D5E"/>
                </a:solidFill>
                <a:latin typeface="Segoe UI"/>
              </a:rPr>
              <a:t>no MBAP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DDC97"/>
                </a:solidFill>
                <a:latin typeface="Consolas"/>
              </a:rPr>
              <a:t>Modbus Security</a:t>
            </a:r>
            <a:r>
              <a:rPr sz="900" b="0">
                <a:solidFill>
                  <a:srgbClr val="8FA1B8"/>
                </a:solidFill>
                <a:latin typeface="Segoe UI"/>
              </a:rPr>
              <a:t>  TLS on 802 — near-absent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169664"/>
            <a:ext cx="4489703" cy="20116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297680"/>
            <a:ext cx="4489703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PORTS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2D3EE"/>
                </a:solidFill>
                <a:latin typeface="Consolas"/>
              </a:rPr>
              <a:t>502/tcp     </a:t>
            </a:r>
            <a:r>
              <a:rPr sz="900" b="0">
                <a:solidFill>
                  <a:srgbClr val="E6EDF3"/>
                </a:solidFill>
                <a:latin typeface="Segoe UI"/>
              </a:rPr>
              <a:t>Modbus/TCP </a:t>
            </a:r>
            <a:r>
              <a:rPr sz="900" b="1">
                <a:solidFill>
                  <a:srgbClr val="FF4D5E"/>
                </a:solidFill>
                <a:latin typeface="Segoe UI"/>
              </a:rPr>
              <a:t>← Shodan port:502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DDC97"/>
                </a:solidFill>
                <a:latin typeface="Consolas"/>
              </a:rPr>
              <a:t>802/tcp     </a:t>
            </a:r>
            <a:r>
              <a:rPr sz="900" b="0">
                <a:solidFill>
                  <a:srgbClr val="E6EDF3"/>
                </a:solidFill>
                <a:latin typeface="Segoe UI"/>
              </a:rPr>
              <a:t>Modbus/TCP Security (TLS)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no std port </a:t>
            </a:r>
            <a:r>
              <a:rPr sz="900" b="0">
                <a:solidFill>
                  <a:srgbClr val="E6EDF3"/>
                </a:solidFill>
                <a:latin typeface="Segoe UI"/>
              </a:rPr>
              <a:t>RTU-over-TCP on Moxa /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            </a:t>
            </a:r>
            <a:r>
              <a:rPr sz="900" b="0">
                <a:solidFill>
                  <a:srgbClr val="E6EDF3"/>
                </a:solidFill>
                <a:latin typeface="Segoe UI"/>
              </a:rPr>
              <a:t>Lantronix / Digi gateways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5577840"/>
            <a:ext cx="4489703" cy="475488"/>
          </a:xfrm>
          <a:prstGeom prst="rect">
            <a:avLst/>
          </a:prstGeom>
          <a:solidFill>
            <a:srgbClr val="19202C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5641848"/>
            <a:ext cx="42336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Serial-to-Ethernet gateways are the soft edge: they turn a physical-access problem into a routable one. Inventory every one of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487168"/>
            <a:ext cx="489204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2487168"/>
            <a:ext cx="4892040" cy="365760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487168"/>
            <a:ext cx="50292" cy="3584448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1848" y="2537460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2  </a:t>
            </a:r>
            <a:r>
              <a:rPr sz="1350" b="1">
                <a:solidFill>
                  <a:srgbClr val="0B0E14"/>
                </a:solidFill>
                <a:latin typeface="Segoe UI"/>
              </a:rPr>
              <a:t>THE FOUR DATA BANKS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2962656"/>
            <a:ext cx="448970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8FA1B8"/>
                </a:solidFill>
                <a:latin typeface="Consolas"/>
              </a:rPr>
              <a:t>BANK              BITS  ACC  FUNCTION CODES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E6EDF3"/>
                </a:solidFill>
                <a:latin typeface="Consolas"/>
              </a:rPr>
              <a:t>Coils             1     R/W  </a:t>
            </a:r>
            <a:r>
              <a:rPr sz="900" b="1">
                <a:solidFill>
                  <a:srgbClr val="FF8A3D"/>
                </a:solidFill>
                <a:latin typeface="Consolas"/>
              </a:rPr>
              <a:t>1 / 5 / 15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</a:t>
            </a:r>
            <a:r>
              <a:rPr sz="850" b="1">
                <a:solidFill>
                  <a:srgbClr val="FF4D5E"/>
                </a:solidFill>
                <a:latin typeface="Segoe UI"/>
              </a:rPr>
              <a:t>physical digital OUTPUTS — relay, valve, motor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E6EDF3"/>
                </a:solidFill>
                <a:latin typeface="Consolas"/>
              </a:rPr>
              <a:t>Discrete Inputs   1     R    </a:t>
            </a:r>
            <a:r>
              <a:rPr sz="900" b="1">
                <a:solidFill>
                  <a:srgbClr val="4DA3FF"/>
                </a:solidFill>
                <a:latin typeface="Consolas"/>
              </a:rPr>
              <a:t>2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</a:t>
            </a:r>
            <a:r>
              <a:rPr sz="850" b="0">
                <a:solidFill>
                  <a:srgbClr val="8FA1B8"/>
                </a:solidFill>
                <a:latin typeface="Segoe UI"/>
              </a:rPr>
              <a:t>physical digital inputs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E6EDF3"/>
                </a:solidFill>
                <a:latin typeface="Consolas"/>
              </a:rPr>
              <a:t>Input Registers   16    R    </a:t>
            </a:r>
            <a:r>
              <a:rPr sz="900" b="1">
                <a:solidFill>
                  <a:srgbClr val="4DA3FF"/>
                </a:solidFill>
                <a:latin typeface="Consolas"/>
              </a:rPr>
              <a:t>4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</a:t>
            </a:r>
            <a:r>
              <a:rPr sz="850" b="0">
                <a:solidFill>
                  <a:srgbClr val="8FA1B8"/>
                </a:solidFill>
                <a:latin typeface="Segoe UI"/>
              </a:rPr>
              <a:t>analog inputs / measured values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E6EDF3"/>
                </a:solidFill>
                <a:latin typeface="Consolas"/>
              </a:rPr>
              <a:t>Holding Registers 16    R/W  </a:t>
            </a:r>
            <a:r>
              <a:rPr sz="900" b="1">
                <a:solidFill>
                  <a:srgbClr val="FF8A3D"/>
                </a:solidFill>
                <a:latin typeface="Consolas"/>
              </a:rPr>
              <a:t>3 / 6 / 16 / 22 / 23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</a:t>
            </a:r>
            <a:r>
              <a:rPr sz="850" b="1">
                <a:solidFill>
                  <a:srgbClr val="FF4D5E"/>
                </a:solidFill>
                <a:latin typeface="Segoe UI"/>
              </a:rPr>
              <a:t>setpoints and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4535424"/>
            <a:ext cx="4489703" cy="1499616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15583" y="4608576"/>
            <a:ext cx="423367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⚠  THE ADDRESSING TRAP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Your documentation says </a:t>
            </a:r>
            <a:r>
              <a:rPr sz="900" b="1">
                <a:solidFill>
                  <a:srgbClr val="22D3EE"/>
                </a:solidFill>
                <a:latin typeface="Consolas"/>
              </a:rPr>
              <a:t>40001</a:t>
            </a:r>
            <a:r>
              <a:rPr sz="850" b="0">
                <a:solidFill>
                  <a:srgbClr val="E6EDF3"/>
                </a:solidFill>
                <a:latin typeface="Segoe UI"/>
              </a:rPr>
              <a:t>.  The wire says </a:t>
            </a:r>
            <a:r>
              <a:rPr sz="900" b="1">
                <a:solidFill>
                  <a:srgbClr val="22D3EE"/>
                </a:solidFill>
                <a:latin typeface="Consolas"/>
              </a:rPr>
              <a:t>0x0000</a:t>
            </a:r>
            <a:r>
              <a:rPr sz="850" b="0">
                <a:solidFill>
                  <a:srgbClr val="E6EDF3"/>
                </a:solidFill>
                <a:latin typeface="Segoe UI"/>
              </a:rPr>
              <a:t>.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The vendor 4xxxx convention is 1-based and bank-prefixed. The PDU carries a 0-based offset within its bank. Holding register 40001 is wire address 0.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FF8A3D"/>
                </a:solidFill>
                <a:latin typeface="Segoe UI"/>
              </a:rPr>
              <a:t>Get this wrong and you hunt the wrong register — or write to one.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32-bit and float values span TWO registers, and the word order is vendor-dependent. Never assume.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19" y="2487168"/>
            <a:ext cx="5486400" cy="3584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61319" y="2487168"/>
            <a:ext cx="5486400" cy="365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61319" y="2487168"/>
            <a:ext cx="50292" cy="3584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16767" y="2537460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3  </a:t>
            </a:r>
            <a:r>
              <a:rPr sz="1350" b="1">
                <a:solidFill>
                  <a:srgbClr val="0B0E14"/>
                </a:solidFill>
                <a:latin typeface="Segoe UI"/>
              </a:rPr>
              <a:t>FRAME ANATOMY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2488" y="2962656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MODBUS/TCP ADU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onsolas"/>
              </a:rPr>
              <a:t>┌──────────┬──────────┬────────┬──────┬────┬───────┐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│ Trans ID │ Proto ID │ Length │ Unit │ FC │ data  │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FA1B8"/>
                </a:solidFill>
                <a:latin typeface="Consolas"/>
              </a:rPr>
              <a:t>│   2 B    │   2 B    │  2 B   │ 1 B  │1 B │  n B  │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onsolas"/>
              </a:rPr>
              <a:t>└──────────┴──────────┴────────┴──────┴────┴───────┘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22D3EE"/>
                </a:solidFill>
                <a:latin typeface="Consolas"/>
              </a:rPr>
              <a:t>     MBAP header — 7 bytes, big-endian        </a:t>
            </a:r>
            <a:r>
              <a:rPr sz="850" b="1">
                <a:solidFill>
                  <a:srgbClr val="FFB020"/>
                </a:solidFill>
                <a:latin typeface="Consolas"/>
              </a:rPr>
              <a:t>PDU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2488" y="3986784"/>
            <a:ext cx="5084064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Trans ID</a:t>
            </a:r>
            <a:r>
              <a:rPr sz="850" b="0">
                <a:solidFill>
                  <a:srgbClr val="E6EDF3"/>
                </a:solidFill>
                <a:latin typeface="Segoe UI"/>
              </a:rPr>
              <a:t>  echoed by the server; a compliant master increments per request.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Static across many requests = replay / injection tell.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Proto ID</a:t>
            </a:r>
            <a:r>
              <a:rPr sz="850" b="0">
                <a:solidFill>
                  <a:srgbClr val="E6EDF3"/>
                </a:solidFill>
                <a:latin typeface="Segoe UI"/>
              </a:rPr>
              <a:t>  MUST be 0x0000. Non-zero on 502 = malformed, tunnelled or fuzzing.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Length  </a:t>
            </a:r>
            <a:r>
              <a:rPr sz="850" b="0">
                <a:solidFill>
                  <a:srgbClr val="E6EDF3"/>
                </a:solidFill>
                <a:latin typeface="Segoe UI"/>
              </a:rPr>
              <a:t>  bytes of Unit ID + PDU. </a:t>
            </a:r>
            <a:r>
              <a:rPr sz="850" b="1">
                <a:solidFill>
                  <a:srgbClr val="FF8A3D"/>
                </a:solidFill>
                <a:latin typeface="Segoe UI"/>
              </a:rPr>
              <a:t>Parse by this — one TCP segment can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carry several back-to-back frames.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Unit ID </a:t>
            </a:r>
            <a:r>
              <a:rPr sz="850" b="0">
                <a:solidFill>
                  <a:srgbClr val="E6EDF3"/>
                </a:solidFill>
                <a:latin typeface="Segoe UI"/>
              </a:rPr>
              <a:t>  slave address behind a gateway.  </a:t>
            </a:r>
            <a:r>
              <a:rPr sz="900" b="1">
                <a:solidFill>
                  <a:srgbClr val="FF4D5E"/>
                </a:solidFill>
                <a:latin typeface="Segoe UI"/>
              </a:rPr>
              <a:t>UNIT 0 = BROADCAST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Consolas"/>
              </a:rPr>
              <a:t>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A write to unit 0 hits every device on the serial leg, unacknowledged.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FC | 0x80</a:t>
            </a:r>
            <a:r>
              <a:rPr sz="850" b="0">
                <a:solidFill>
                  <a:srgbClr val="E6EDF3"/>
                </a:solidFill>
                <a:latin typeface="Segoe UI"/>
              </a:rPr>
              <a:t> exception response — MSB set, plus a 1-byte exception code.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62488" y="5358384"/>
            <a:ext cx="5084064" cy="676656"/>
          </a:xfrm>
          <a:prstGeom prst="rect">
            <a:avLst/>
          </a:prstGeom>
          <a:solidFill>
            <a:srgbClr val="19202C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90504" y="5431536"/>
            <a:ext cx="48280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8A3D"/>
                </a:solidFill>
                <a:latin typeface="Segoe UI"/>
              </a:rPr>
              <a:t>RTU-OVER-TCP HAS NO MBAP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Slave Addr (1B) + FC (1B) + data + CRC-16 (2B, poly 0xA001). Your dissector will not find it on its own — Wireshark: Decode As → Modbus RTU. Miss this and a whole gateway's traffic reads as noise.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199632"/>
            <a:ext cx="9646920" cy="5870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6199632"/>
            <a:ext cx="9646920" cy="3657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6199632"/>
            <a:ext cx="50292" cy="58704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249924"/>
            <a:ext cx="93360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4  </a:t>
            </a:r>
            <a:r>
              <a:rPr sz="1350" b="1">
                <a:solidFill>
                  <a:srgbClr val="0B0E14"/>
                </a:solidFill>
                <a:latin typeface="Segoe UI"/>
              </a:rPr>
              <a:t>FUNCTION CODES — THE WEAPON RACK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colour = what it does to the process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RECON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31619" y="6675120"/>
            <a:ext cx="694944" cy="214884"/>
          </a:xfrm>
          <a:prstGeom prst="roundRect">
            <a:avLst>
              <a:gd name="adj" fmla="val 45000"/>
            </a:avLst>
          </a:prstGeom>
          <a:solidFill>
            <a:srgbClr val="8F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READ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45436" y="6675120"/>
            <a:ext cx="800100" cy="214884"/>
          </a:xfrm>
          <a:prstGeom prst="roundRect">
            <a:avLst>
              <a:gd name="adj" fmla="val 45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WRITE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4408" y="6675120"/>
            <a:ext cx="2482596" cy="214884"/>
          </a:xfrm>
          <a:prstGeom prst="roundRect">
            <a:avLst>
              <a:gd name="adj" fmla="val 45000"/>
            </a:avLst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CONTROL / DESTRUCTIVE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65875" y="6675120"/>
            <a:ext cx="905256" cy="214884"/>
          </a:xfrm>
          <a:prstGeom prst="roundRect">
            <a:avLst>
              <a:gd name="adj" fmla="val 45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B0E14"/>
                </a:solidFill>
                <a:latin typeface="Segoe UI"/>
              </a:rPr>
              <a:t>VENDOR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7004304"/>
            <a:ext cx="9244584" cy="507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READ  —  the baseline noise of every plant network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01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0x01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Coils 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coils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read digital output state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02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0x02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Discrete Inputs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discrete in </a:t>
            </a:r>
            <a:r>
              <a:rPr sz="850" b="0">
                <a:solidFill>
                  <a:srgbClr val="8FA1B8"/>
                </a:solidFill>
                <a:latin typeface="Segoe UI"/>
              </a:rPr>
              <a:t>read digital input state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03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0x03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Holding Registers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holding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read setpoints — FrostyGoop recon half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04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0x04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Input Registers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input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read measured values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07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0x07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Exception Status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serial: 8 exception bits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11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0x0B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 Comm Event Counter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serial diagnostics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12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0x0C   </a:t>
            </a:r>
            <a:r>
              <a:rPr sz="900" b="1">
                <a:solidFill>
                  <a:srgbClr val="E6EDF3"/>
                </a:solidFill>
                <a:latin typeface="Consolas"/>
              </a:rPr>
              <a:t>Get Comm Event Log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serial diagnostics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20  </a:t>
            </a:r>
            <a:r>
              <a:rPr sz="900" b="0">
                <a:solidFill>
                  <a:srgbClr val="22D3EE"/>
                </a:solidFill>
                <a:latin typeface="Consolas"/>
              </a:rPr>
              <a:t>0x14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File Record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file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config / firmware image staging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24  </a:t>
            </a:r>
            <a:r>
              <a:rPr sz="900" b="0">
                <a:solidFill>
                  <a:srgbClr val="22D3EE"/>
                </a:solidFill>
                <a:latin typeface="Consolas"/>
              </a:rPr>
              <a:t>0x18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 FIFO Queue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queue contents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RECON  —  unauthenticated device fingerprinting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17  </a:t>
            </a:r>
            <a:r>
              <a:rPr sz="900" b="0">
                <a:solidFill>
                  <a:srgbClr val="22D3EE"/>
                </a:solidFill>
                <a:latin typeface="Consolas"/>
              </a:rPr>
              <a:t>0x11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Report Server ID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0">
                <a:solidFill>
                  <a:srgbClr val="4DA3FF"/>
                </a:solidFill>
                <a:latin typeface="Segoe UI"/>
              </a:rPr>
              <a:t>vendor + device enumeration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43  </a:t>
            </a:r>
            <a:r>
              <a:rPr sz="900" b="0">
                <a:solidFill>
                  <a:srgbClr val="22D3EE"/>
                </a:solidFill>
                <a:latin typeface="Consolas"/>
              </a:rPr>
              <a:t>0x2B   </a:t>
            </a:r>
            <a:r>
              <a:rPr sz="900" b="1">
                <a:solidFill>
                  <a:srgbClr val="E6EDF3"/>
                </a:solidFill>
                <a:latin typeface="Consolas"/>
              </a:rPr>
              <a:t>Encap. Interface Transport  </a:t>
            </a:r>
            <a:r>
              <a:rPr sz="850" b="0">
                <a:solidFill>
                  <a:srgbClr val="8FA1B8"/>
                </a:solidFill>
                <a:latin typeface="Consolas"/>
              </a:rPr>
              <a:t>MEI 0x0E    </a:t>
            </a:r>
            <a:r>
              <a:rPr sz="850" b="0">
                <a:solidFill>
                  <a:srgbClr val="4DA3FF"/>
                </a:solidFill>
                <a:latin typeface="Segoe UI"/>
              </a:rPr>
              <a:t>Read Device ID: vendor, product, rev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WRITE  —  every one of these moves physical process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05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0x05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Single Coil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coils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FORCE one output ON/OFF — valve, relay, motor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06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0x06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Single Register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holding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one setpoint — FrostyGoop write vector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15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0x0F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Multiple Coils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coils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bulk output force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16  </a:t>
            </a:r>
            <a:r>
              <a:rPr sz="900" b="0">
                <a:solidFill>
                  <a:srgbClr val="22D3EE"/>
                </a:solidFill>
                <a:latin typeface="Consolas"/>
              </a:rPr>
              <a:t>0x10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Multiple Registers    </a:t>
            </a:r>
            <a:r>
              <a:rPr sz="850" b="0">
                <a:solidFill>
                  <a:srgbClr val="8FA1B8"/>
                </a:solidFill>
                <a:latin typeface="Consolas"/>
              </a:rPr>
              <a:t>holding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bulk setpoint — FrostyGoop write vector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21  </a:t>
            </a:r>
            <a:r>
              <a:rPr sz="900" b="0">
                <a:solidFill>
                  <a:srgbClr val="22D3EE"/>
                </a:solidFill>
                <a:latin typeface="Consolas"/>
              </a:rPr>
              <a:t>0x15   </a:t>
            </a:r>
            <a:r>
              <a:rPr sz="900" b="1">
                <a:solidFill>
                  <a:srgbClr val="E6EDF3"/>
                </a:solidFill>
                <a:latin typeface="Consolas"/>
              </a:rPr>
              <a:t>Write File Record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file   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writes the device config store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22  </a:t>
            </a:r>
            <a:r>
              <a:rPr sz="900" b="0">
                <a:solidFill>
                  <a:srgbClr val="22D3EE"/>
                </a:solidFill>
                <a:latin typeface="Consolas"/>
              </a:rPr>
              <a:t>0x16   </a:t>
            </a:r>
            <a:r>
              <a:rPr sz="900" b="1">
                <a:solidFill>
                  <a:srgbClr val="E6EDF3"/>
                </a:solidFill>
                <a:latin typeface="Consolas"/>
              </a:rPr>
              <a:t>Mask Write Register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holding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AND/OR read-modify-write of one register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23  </a:t>
            </a:r>
            <a:r>
              <a:rPr sz="900" b="0">
                <a:solidFill>
                  <a:srgbClr val="22D3EE"/>
                </a:solidFill>
                <a:latin typeface="Consolas"/>
              </a:rPr>
              <a:t>0x17   </a:t>
            </a:r>
            <a:r>
              <a:rPr sz="900" b="1">
                <a:solidFill>
                  <a:srgbClr val="E6EDF3"/>
                </a:solidFill>
                <a:latin typeface="Consolas"/>
              </a:rPr>
              <a:t>Read/Write Multiple Regs    </a:t>
            </a:r>
            <a:r>
              <a:rPr sz="850" b="0">
                <a:solidFill>
                  <a:srgbClr val="8FA1B8"/>
                </a:solidFill>
                <a:latin typeface="Consolas"/>
              </a:rPr>
              <a:t>holding     </a:t>
            </a:r>
            <a:r>
              <a:rPr sz="850" b="1">
                <a:solidFill>
                  <a:srgbClr val="FF8A3D"/>
                </a:solidFill>
                <a:latin typeface="Segoe UI"/>
              </a:rPr>
              <a:t>read + write in ONE PDU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CONTROL  —  see panel 5 for the sub-function detail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 08  </a:t>
            </a:r>
            <a:r>
              <a:rPr sz="900" b="0">
                <a:solidFill>
                  <a:srgbClr val="22D3EE"/>
                </a:solidFill>
                <a:latin typeface="Consolas"/>
              </a:rPr>
              <a:t>0x08   </a:t>
            </a:r>
            <a:r>
              <a:rPr sz="900" b="1">
                <a:solidFill>
                  <a:srgbClr val="E6EDF3"/>
                </a:solidFill>
                <a:latin typeface="Consolas"/>
              </a:rPr>
              <a:t>Diagnostics         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restart · force listen-only · clear counters</a:t>
            </a:r>
          </a:p>
          <a:p>
            <a:pPr>
              <a:spcAft>
                <a:spcPts val="60"/>
              </a:spcAft>
            </a:pPr>
            <a:r>
              <a:rPr sz="200" b="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60"/>
              </a:spcAft>
            </a:pPr>
            <a:r>
              <a:rPr sz="850" b="1">
                <a:solidFill>
                  <a:srgbClr val="FFB020"/>
                </a:solidFill>
                <a:latin typeface="Segoe UI"/>
              </a:rPr>
              <a:t>VENDOR / RESERVED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65-72  </a:t>
            </a:r>
            <a:r>
              <a:rPr sz="900" b="0">
                <a:solidFill>
                  <a:srgbClr val="22D3EE"/>
                </a:solidFill>
                <a:latin typeface="Consolas"/>
              </a:rPr>
              <a:t>       </a:t>
            </a:r>
            <a:r>
              <a:rPr sz="900" b="1">
                <a:solidFill>
                  <a:srgbClr val="E6EDF3"/>
                </a:solidFill>
                <a:latin typeface="Consolas"/>
              </a:rPr>
              <a:t>Vendor-defined range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legal but proprietary — baseline, do not assume</a:t>
            </a:r>
          </a:p>
          <a:p>
            <a:pPr>
              <a:spcAft>
                <a:spcPts val="6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100-110  </a:t>
            </a:r>
            <a:r>
              <a:rPr sz="900" b="0">
                <a:solidFill>
                  <a:srgbClr val="22D3EE"/>
                </a:solidFill>
                <a:latin typeface="Consolas"/>
              </a:rPr>
              <a:t>       </a:t>
            </a:r>
            <a:r>
              <a:rPr sz="900" b="1">
                <a:solidFill>
                  <a:srgbClr val="E6EDF3"/>
                </a:solidFill>
                <a:latin typeface="Consolas"/>
              </a:rPr>
              <a:t>Vendor-defined range        </a:t>
            </a:r>
            <a:r>
              <a:rPr sz="850" b="0">
                <a:solidFill>
                  <a:srgbClr val="8FA1B8"/>
                </a:solidFill>
                <a:latin typeface="Consolas"/>
              </a:rPr>
              <a:t>—           </a:t>
            </a:r>
            <a:r>
              <a:rPr sz="850" b="0">
                <a:solidFill>
                  <a:srgbClr val="B388FF"/>
                </a:solidFill>
                <a:latin typeface="Segoe UI"/>
              </a:rPr>
              <a:t>anything outside these = protocol violation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6199632"/>
            <a:ext cx="5806440" cy="587044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41280" y="6199632"/>
            <a:ext cx="5806440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41280" y="6199632"/>
            <a:ext cx="50292" cy="587044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96728" y="6249924"/>
            <a:ext cx="54955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5  </a:t>
            </a:r>
            <a:r>
              <a:rPr sz="1350" b="1">
                <a:solidFill>
                  <a:srgbClr val="0B0E14"/>
                </a:solidFill>
                <a:latin typeface="Segoe UI"/>
              </a:rPr>
              <a:t>FC 8 DIAGNOSTICS  &amp;  EXCEPTIONS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2448" y="6675120"/>
            <a:ext cx="5404103" cy="539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FC 8 SUB-FUNCTIONS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0x00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Query Data 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loopback echo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0x01  </a:t>
            </a:r>
            <a:r>
              <a:rPr sz="850" b="1">
                <a:solidFill>
                  <a:srgbClr val="E6EDF3"/>
                </a:solidFill>
                <a:latin typeface="Consolas"/>
              </a:rPr>
              <a:t>Restart Communications Option    </a:t>
            </a:r>
            <a:r>
              <a:rPr sz="850" b="1">
                <a:solidFill>
                  <a:srgbClr val="FF4D5E"/>
                </a:solidFill>
                <a:latin typeface="Segoe UI"/>
              </a:rPr>
              <a:t>DEVICE RESTART — T0816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0x02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Diagnostic Register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read diag register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0x03  </a:t>
            </a:r>
            <a:r>
              <a:rPr sz="850" b="1">
                <a:solidFill>
                  <a:srgbClr val="E6EDF3"/>
                </a:solidFill>
                <a:latin typeface="Consolas"/>
              </a:rPr>
              <a:t>Change ASCII Input Delimiter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framing change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0x04  </a:t>
            </a:r>
            <a:r>
              <a:rPr sz="850" b="1">
                <a:solidFill>
                  <a:srgbClr val="E6EDF3"/>
                </a:solidFill>
                <a:latin typeface="Consolas"/>
              </a:rPr>
              <a:t>Force Listen Only Mode           </a:t>
            </a:r>
            <a:r>
              <a:rPr sz="850" b="1">
                <a:solidFill>
                  <a:srgbClr val="FF4D5E"/>
                </a:solidFill>
                <a:latin typeface="Segoe UI"/>
              </a:rPr>
              <a:t>SILENCES THE SLAVE — DoS, T0814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0x0A  </a:t>
            </a:r>
            <a:r>
              <a:rPr sz="850" b="1">
                <a:solidFill>
                  <a:srgbClr val="E6EDF3"/>
                </a:solidFill>
                <a:latin typeface="Consolas"/>
              </a:rPr>
              <a:t>Clear Counters and Diag Register </a:t>
            </a:r>
            <a:r>
              <a:rPr sz="850" b="1">
                <a:solidFill>
                  <a:srgbClr val="FF4D5E"/>
                </a:solidFill>
                <a:latin typeface="Segoe UI"/>
              </a:rPr>
              <a:t>ANTI-FORENSICS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0x0B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Bus Message Count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0x0C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Bus Comm Error Count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0x0D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Bus Exception Error Count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0x0E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Slave Message Count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0x0F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Slave No Response Count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0x10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Slave NAK Count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0x11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Slave Busy Count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0x12  </a:t>
            </a:r>
            <a:r>
              <a:rPr sz="850" b="1">
                <a:solidFill>
                  <a:srgbClr val="E6EDF3"/>
                </a:solidFill>
                <a:latin typeface="Consolas"/>
              </a:rPr>
              <a:t>Return Bus Char Overrun Count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counter read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0x14  </a:t>
            </a:r>
            <a:r>
              <a:rPr sz="850" b="1">
                <a:solidFill>
                  <a:srgbClr val="E6EDF3"/>
                </a:solidFill>
                <a:latin typeface="Consolas"/>
              </a:rPr>
              <a:t>Clear Overrun Counter and Flag   </a:t>
            </a:r>
            <a:r>
              <a:rPr sz="850" b="0">
                <a:solidFill>
                  <a:srgbClr val="FF8A3D"/>
                </a:solidFill>
                <a:latin typeface="Segoe UI"/>
              </a:rPr>
              <a:t>counter clear</a:t>
            </a:r>
          </a:p>
          <a:p>
            <a:pPr>
              <a:spcAft>
                <a:spcPts val="140"/>
              </a:spcAft>
            </a:pPr>
            <a:r>
              <a:rPr sz="4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4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EXCEPTION CODES</a:t>
            </a:r>
            <a:r>
              <a:rPr sz="850" b="0">
                <a:solidFill>
                  <a:srgbClr val="8FA1B8"/>
                </a:solidFill>
                <a:latin typeface="Segoe UI"/>
              </a:rPr>
              <a:t>     response = FC | 0x80, then one byte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0x01  </a:t>
            </a:r>
            <a:r>
              <a:rPr sz="850" b="1">
                <a:solidFill>
                  <a:srgbClr val="FF4D5E"/>
                </a:solidFill>
                <a:latin typeface="Segoe UI"/>
              </a:rPr>
              <a:t>Illegal Function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0x02  </a:t>
            </a:r>
            <a:r>
              <a:rPr sz="850" b="1">
                <a:solidFill>
                  <a:srgbClr val="FF4D5E"/>
                </a:solidFill>
                <a:latin typeface="Segoe UI"/>
              </a:rPr>
              <a:t>Illegal Data Address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0x03  </a:t>
            </a:r>
            <a:r>
              <a:rPr sz="850" b="0">
                <a:solidFill>
                  <a:srgbClr val="FF8A3D"/>
                </a:solidFill>
                <a:latin typeface="Segoe UI"/>
              </a:rPr>
              <a:t>Illegal Data Value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0x04  </a:t>
            </a:r>
            <a:r>
              <a:rPr sz="850" b="0">
                <a:solidFill>
                  <a:srgbClr val="8FA1B8"/>
                </a:solidFill>
                <a:latin typeface="Segoe UI"/>
              </a:rPr>
              <a:t>Server Device Failure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0x05  </a:t>
            </a:r>
            <a:r>
              <a:rPr sz="850" b="0">
                <a:solidFill>
                  <a:srgbClr val="8FA1B8"/>
                </a:solidFill>
                <a:latin typeface="Segoe UI"/>
              </a:rPr>
              <a:t>Acknowledge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0x06  </a:t>
            </a:r>
            <a:r>
              <a:rPr sz="850" b="0">
                <a:solidFill>
                  <a:srgbClr val="8FA1B8"/>
                </a:solidFill>
                <a:latin typeface="Segoe UI"/>
              </a:rPr>
              <a:t>Server Device Busy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0x08  </a:t>
            </a:r>
            <a:r>
              <a:rPr sz="850" b="0">
                <a:solidFill>
                  <a:srgbClr val="8FA1B8"/>
                </a:solidFill>
                <a:latin typeface="Segoe UI"/>
              </a:rPr>
              <a:t>Memory Parity Error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0x0A  </a:t>
            </a:r>
            <a:r>
              <a:rPr sz="850" b="0">
                <a:solidFill>
                  <a:srgbClr val="8FA1B8"/>
                </a:solidFill>
                <a:latin typeface="Segoe UI"/>
              </a:rPr>
              <a:t>Gateway Path Unavailable</a:t>
            </a:r>
          </a:p>
          <a:p>
            <a:pPr>
              <a:spcAft>
                <a:spcPts val="140"/>
              </a:spcAft>
            </a:pPr>
            <a:r>
              <a:rPr sz="900" b="1">
                <a:solidFill>
                  <a:srgbClr val="22D3EE"/>
                </a:solidFill>
                <a:latin typeface="Consolas"/>
              </a:rPr>
              <a:t>0x0B  </a:t>
            </a:r>
            <a:r>
              <a:rPr sz="850" b="0">
                <a:solidFill>
                  <a:srgbClr val="8FA1B8"/>
                </a:solidFill>
                <a:latin typeface="Segoe UI"/>
              </a:rPr>
              <a:t>Gateway Target Failed To Respond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2448" y="11265408"/>
            <a:ext cx="5404103" cy="685800"/>
          </a:xfrm>
          <a:prstGeom prst="rect">
            <a:avLst/>
          </a:prstGeom>
          <a:solidFill>
            <a:srgbClr val="19202C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70464" y="11338560"/>
            <a:ext cx="51480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EXCEPTIONS ARE THE LOUDEST RECON SIGNAL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Bursts of </a:t>
            </a:r>
            <a:r>
              <a:rPr sz="850" b="1">
                <a:solidFill>
                  <a:srgbClr val="22D3EE"/>
                </a:solidFill>
                <a:latin typeface="Consolas"/>
              </a:rPr>
              <a:t>0x01</a:t>
            </a:r>
            <a:r>
              <a:rPr sz="850" b="0">
                <a:solidFill>
                  <a:srgbClr val="E6EDF3"/>
                </a:solidFill>
                <a:latin typeface="Segoe UI"/>
              </a:rPr>
              <a:t> / </a:t>
            </a:r>
            <a:r>
              <a:rPr sz="850" b="1">
                <a:solidFill>
                  <a:srgbClr val="22D3EE"/>
                </a:solidFill>
                <a:latin typeface="Consolas"/>
              </a:rPr>
              <a:t>0x02</a:t>
            </a:r>
            <a:r>
              <a:rPr sz="850" b="0">
                <a:solidFill>
                  <a:srgbClr val="E6EDF3"/>
                </a:solidFill>
                <a:latin typeface="Segoe UI"/>
              </a:rPr>
              <a:t> across many addresses and function codes = enumeration, fuzzing or exploit probing. They ride in the RESPONSE, so you catch them even when you missed the request.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12216384"/>
            <a:ext cx="7726679" cy="4828032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12216384"/>
            <a:ext cx="7726679" cy="36576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12216384"/>
            <a:ext cx="50292" cy="4828032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12266676"/>
            <a:ext cx="74157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6  </a:t>
            </a:r>
            <a:r>
              <a:rPr sz="1350" b="1">
                <a:solidFill>
                  <a:srgbClr val="0B0E14"/>
                </a:solidFill>
                <a:latin typeface="Segoe UI"/>
              </a:rPr>
              <a:t>ATTACKER PLAYBOOK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ICS Kill Chain — Stage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12691872"/>
            <a:ext cx="7324344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1  DISCOVER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Scan tcp/502 — Shodan port:502 still returns internet-facing PLCs daily. Behind a gateway, sweep Unit IDs 1–247 to find what is on the serial leg.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2  FINGERPRINT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FC 43 / MEI 0x0E Read Device Identification returns vendor, product code and revision. FC 17 Report Server ID does the same on serial. No session, no credentials, no trace beyond a log line.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3  MAP THE PROCESS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Walk register and coil ranges with FC 1/2/3/4. Exception 0x02 Illegal Data Address tells you exactly where the map ends. Reads are indistinguishable from the HMI's own polling — this recon is free.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4  MANIPULATE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FC 5/15 force coils, which are physical outputs. FC 6/16/22/23 write registers, which are setpoints. FC 23 reads and writes in a single PDU.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5  DISRUPT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FC 8 sub 0x04 Force Listen-Only silences a slave outright. Sub 0x01 restarts it. A broadcast write to Unit 0 hits an entire serial leg at once, unacknowledged.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6  COVER TRACKS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E6EDF3"/>
                </a:solidFill>
                <a:latin typeface="Segoe UI"/>
              </a:rPr>
              <a:t>FC 8 sub 0x0A Clear Counters and Diagnostic Register wipes the device's own record of the errors you just caused.</a:t>
            </a:r>
          </a:p>
          <a:p>
            <a:pPr>
              <a:spcAft>
                <a:spcPts val="100"/>
              </a:spcAft>
            </a:pPr>
            <a:r>
              <a:rPr sz="250" b="0">
                <a:solidFill>
                  <a:srgbClr val="E6EDF3"/>
                </a:solidFill>
                <a:latin typeface="Segoe U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" y="16312896"/>
            <a:ext cx="7324344" cy="658368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16386047"/>
            <a:ext cx="70683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F4D5E"/>
                </a:solidFill>
                <a:latin typeface="Segoe UI"/>
              </a:rPr>
              <a:t>WHY IT WORKS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No authentication, no encryption, no integrity, no session. Anyone on the segment is the master. FrostyGoop needed exactly three function codes — 3, 6 and 16 — and a stock Go Modbus library.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12216384"/>
            <a:ext cx="7726679" cy="4828032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21040" y="12216384"/>
            <a:ext cx="7726679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21040" y="12216384"/>
            <a:ext cx="50292" cy="4828032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76488" y="12266676"/>
            <a:ext cx="74157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7  </a:t>
            </a:r>
            <a:r>
              <a:rPr sz="1350" b="1">
                <a:solidFill>
                  <a:srgbClr val="0B0E14"/>
                </a:solidFill>
                <a:latin typeface="Segoe UI"/>
              </a:rPr>
              <a:t>DEFENDER PLAYBOOK</a:t>
            </a:r>
            <a:r>
              <a:rPr sz="1000" b="0">
                <a:solidFill>
                  <a:srgbClr val="0B0E14"/>
                </a:solidFill>
                <a:latin typeface="Segoe UI"/>
              </a:rPr>
              <a:t>     capture → parse → triage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2208" y="12691872"/>
            <a:ext cx="7324344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CAPTURE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bpf: tcp port 502        trunk: (tcp port 502) or (vlan and tcp port 502)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Tap the cell/process switch. A 50-PLC 1 Hz poll loop is only ~1–5 MB/min — keep full payload.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ZEEK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modbus.log  ·  ICSNPP: modbus_detailed.log · modbus_read_write.log</a:t>
            </a:r>
          </a:p>
          <a:p>
            <a:pPr>
              <a:spcAft>
                <a:spcPts val="8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ICSNPP gives you unit_id, address, quantity and the DECODED VALUE written.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SURICATA — native modbus keyword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modbus: function [5,6,15,16];    modbus: function 8, subfunction 1;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modbus: unit 0;</a:t>
            </a:r>
          </a:p>
          <a:p>
            <a:pPr>
              <a:spcAft>
                <a:spcPts val="80"/>
              </a:spcAft>
            </a:pPr>
            <a:r>
              <a:rPr sz="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8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WIRESHARK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modbus.func_code == 8 &amp;&amp; modbus.diagnostic.sub_function == 4</a:t>
            </a:r>
          </a:p>
          <a:p>
            <a:pPr>
              <a:spcAft>
                <a:spcPts val="80"/>
              </a:spcAft>
            </a:pPr>
            <a:r>
              <a:rPr sz="900" b="0">
                <a:solidFill>
                  <a:srgbClr val="22D3EE"/>
                </a:solidFill>
                <a:latin typeface="Consolas"/>
              </a:rPr>
              <a:t>modbus.mei == 0x0e        mbtcp.unit_id == 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22208" y="15087600"/>
            <a:ext cx="7324344" cy="822960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0224" y="15151608"/>
            <a:ext cx="70683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50" b="1">
                <a:solidFill>
                  <a:srgbClr val="3DDC97"/>
                </a:solidFill>
                <a:latin typeface="Segoe UI"/>
              </a:rPr>
              <a:t>TRIAGE — FIVE QUESTIONS, IN ORDER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1  Is it a write or control op?  (5/6/15/16/21/22/23 · FC8 restart/listen-only/clear · unit 0)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2  Is the source a baselined master or EWS?     3  Inside a change window?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4  Does the target register match baseline?     5  Read-then-write? Write burst?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FF4D5E"/>
                </a:solidFill>
                <a:latin typeface="Segoe UI"/>
              </a:rPr>
              <a:t>Non-baseline source on a write  →  ESCALATE. Notify ops BEFORE touching the process.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22208" y="15965424"/>
            <a:ext cx="7324344" cy="932688"/>
          </a:xfrm>
          <a:prstGeom prst="rect">
            <a:avLst/>
          </a:prstGeom>
          <a:solidFill>
            <a:srgbClr val="19202C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0224" y="16029431"/>
            <a:ext cx="7068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★  THE HIGHEST-VALUE QUERY IN OT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E6EDF3"/>
                </a:solidFill>
                <a:latin typeface="Segoe UI"/>
              </a:rPr>
              <a:t>Modbus write function codes from a source that is not in the SCADA-master baseline.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That one query is what would have caught FrostyGoop. It needs no threat intel, no signature and no vendor feed — only an accurate list of who is allowed to write. Everything else on this poster is refinement.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17190720"/>
            <a:ext cx="489204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1480" y="17190720"/>
            <a:ext cx="4892040" cy="36576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17190720"/>
            <a:ext cx="50292" cy="331012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17241012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8  </a:t>
            </a:r>
            <a:r>
              <a:rPr sz="1350" b="1">
                <a:solidFill>
                  <a:srgbClr val="0B0E14"/>
                </a:solidFill>
                <a:latin typeface="Segoe UI"/>
              </a:rPr>
              <a:t>NORMAL vs SUSPICIOUS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17666208"/>
            <a:ext cx="448970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000" b="1">
                <a:solidFill>
                  <a:srgbClr val="3DDC97"/>
                </a:solidFill>
                <a:latin typeface="Segoe UI"/>
              </a:rPr>
              <a:t>NORMAL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a small, stable set of master IPs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fixed servers and Unit IDs, regular cadence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overwhelmingly reads — FC 1/2/3/4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narrow, consistent register window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transaction IDs increment; 1:1 request/response</a:t>
            </a:r>
          </a:p>
          <a:p>
            <a:pPr>
              <a:spcAft>
                <a:spcPts val="150"/>
              </a:spcAft>
            </a:pPr>
            <a:r>
              <a:rPr sz="4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Aft>
                <a:spcPts val="150"/>
              </a:spcAft>
            </a:pPr>
            <a:r>
              <a:rPr sz="1000" b="1">
                <a:solidFill>
                  <a:srgbClr val="FF4D5E"/>
                </a:solidFill>
                <a:latin typeface="Segoe UI"/>
              </a:rPr>
              <a:t>SUSPICIOUS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FF4D5E"/>
                </a:solidFill>
                <a:latin typeface="Segoe UI"/>
              </a:rPr>
              <a:t>·  write FC from a non-baselined source  ← the finding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coil force 5/15 — physical output manipulation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write to Unit ID 0 (broadcast)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read-then-write the same register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FC8 restart / listen-only / clear counters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new write target, first-seen master, off-hours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FC17 / FC43 enumeration from a non-primary source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non-zero protocol ID, static transaction ID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unanswered requests (DoS) · phantom responses (spoof)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·  Modbus on a non-standard port, or on a public IP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0" y="17190720"/>
            <a:ext cx="489204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86400" y="17190720"/>
            <a:ext cx="4892040" cy="3657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0" y="17190720"/>
            <a:ext cx="50292" cy="33101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41848" y="17241012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9  </a:t>
            </a:r>
            <a:r>
              <a:rPr sz="1350" b="1">
                <a:solidFill>
                  <a:srgbClr val="0B0E14"/>
                </a:solidFill>
                <a:latin typeface="Segoe UI"/>
              </a:rPr>
              <a:t>HARDENING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87568" y="17666208"/>
            <a:ext cx="448970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1. </a:t>
            </a:r>
            <a:r>
              <a:rPr sz="850" b="0">
                <a:solidFill>
                  <a:srgbClr val="E6EDF3"/>
                </a:solidFill>
                <a:latin typeface="Segoe UI"/>
              </a:rPr>
              <a:t>Modbus has no auth — the network IS the access control. Allowlist master→server pairs.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2. </a:t>
            </a:r>
            <a:r>
              <a:rPr sz="850" b="0">
                <a:solidFill>
                  <a:srgbClr val="E6EDF3"/>
                </a:solidFill>
                <a:latin typeface="Segoe UI"/>
              </a:rPr>
              <a:t>Never expose 502 to the internet. Check Shodan/Censys against your own ASN.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3. </a:t>
            </a:r>
            <a:r>
              <a:rPr sz="850" b="0">
                <a:solidFill>
                  <a:srgbClr val="E6EDF3"/>
                </a:solidFill>
                <a:latin typeface="Segoe UI"/>
              </a:rPr>
              <a:t>Segment cell/area zones; deny 502 across boundaries except named pairs.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4. </a:t>
            </a:r>
            <a:r>
              <a:rPr sz="850" b="0">
                <a:solidFill>
                  <a:srgbClr val="E6EDF3"/>
                </a:solidFill>
                <a:latin typeface="Segoe UI"/>
              </a:rPr>
              <a:t>Filter on function code where the firewall or OT-IDS supports it — deny writes from non-masters.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5. </a:t>
            </a:r>
            <a:r>
              <a:rPr sz="850" b="0">
                <a:solidFill>
                  <a:srgbClr val="E6EDF3"/>
                </a:solidFill>
                <a:latin typeface="Segoe UI"/>
              </a:rPr>
              <a:t>Block Unit ID 0 broadcast writes at the gateway.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6. </a:t>
            </a:r>
            <a:r>
              <a:rPr sz="850" b="0">
                <a:solidFill>
                  <a:srgbClr val="E6EDF3"/>
                </a:solidFill>
                <a:latin typeface="Segoe UI"/>
              </a:rPr>
              <a:t>Alarm on FC8 sub 0x01 / 0x04 / 0x0A — no legitimate poller sends these.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7. </a:t>
            </a:r>
            <a:r>
              <a:rPr sz="850" b="0">
                <a:solidFill>
                  <a:srgbClr val="E6EDF3"/>
                </a:solidFill>
                <a:latin typeface="Segoe UI"/>
              </a:rPr>
              <a:t>Baseline the register and coil map per (server, unit); alert on a new write target.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8. </a:t>
            </a:r>
            <a:r>
              <a:rPr sz="850" b="0">
                <a:solidFill>
                  <a:srgbClr val="E6EDF3"/>
                </a:solidFill>
                <a:latin typeface="Segoe UI"/>
              </a:rPr>
              <a:t>Where the gear supports it, move to Modbus/TCP Security (TLS on 802).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DDC97"/>
                </a:solidFill>
                <a:latin typeface="Consolas"/>
              </a:rPr>
              <a:t>9. </a:t>
            </a:r>
            <a:r>
              <a:rPr sz="850" b="0">
                <a:solidFill>
                  <a:srgbClr val="E6EDF3"/>
                </a:solidFill>
                <a:latin typeface="Segoe UI"/>
              </a:rPr>
              <a:t>Inventory serial-to-Ethernet gateways — they are the quietest way in.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87568" y="20043648"/>
            <a:ext cx="4489703" cy="347472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97296" y="20107656"/>
            <a:ext cx="42702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Top 20 Secure PLC Coding Practices  ·  IEC 62443-3-3  ·  NIST SP 800-82r3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61319" y="17190720"/>
            <a:ext cx="5486400" cy="3310128"/>
          </a:xfrm>
          <a:prstGeom prst="rect">
            <a:avLst/>
          </a:prstGeom>
          <a:solidFill>
            <a:srgbClr val="131822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561319" y="17190720"/>
            <a:ext cx="5486400" cy="3657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61319" y="17190720"/>
            <a:ext cx="50292" cy="331012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716767" y="17241012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0E14"/>
                </a:solidFill>
                <a:latin typeface="Segoe UI"/>
              </a:rPr>
              <a:t>10  </a:t>
            </a:r>
            <a:r>
              <a:rPr sz="1350" b="1">
                <a:solidFill>
                  <a:srgbClr val="0B0E14"/>
                </a:solidFill>
                <a:latin typeface="Segoe UI"/>
              </a:rPr>
              <a:t>ATT&amp;CK for 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62488" y="17666208"/>
            <a:ext cx="508406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T0846  </a:t>
            </a:r>
            <a:r>
              <a:rPr sz="900" b="1">
                <a:solidFill>
                  <a:srgbClr val="E6EDF3"/>
                </a:solidFill>
                <a:latin typeface="Segoe UI"/>
              </a:rPr>
              <a:t>Remote System Discovery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scanning tcp/502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T0888  </a:t>
            </a:r>
            <a:r>
              <a:rPr sz="900" b="1">
                <a:solidFill>
                  <a:srgbClr val="E6EDF3"/>
                </a:solidFill>
                <a:latin typeface="Segoe UI"/>
              </a:rPr>
              <a:t>Remote System Info Discovery  </a:t>
            </a:r>
            <a:r>
              <a:rPr sz="850" b="0">
                <a:solidFill>
                  <a:srgbClr val="8FA1B8"/>
                </a:solidFill>
                <a:latin typeface="Segoe UI"/>
              </a:rPr>
              <a:t>FC17 · FC43 MEI 0x0E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T0855  </a:t>
            </a:r>
            <a:r>
              <a:rPr sz="900" b="1">
                <a:solidFill>
                  <a:srgbClr val="E6EDF3"/>
                </a:solidFill>
                <a:latin typeface="Segoe UI"/>
              </a:rPr>
              <a:t>Unauthorized Command Message  </a:t>
            </a:r>
            <a:r>
              <a:rPr sz="850" b="0">
                <a:solidFill>
                  <a:srgbClr val="8FA1B8"/>
                </a:solidFill>
                <a:latin typeface="Segoe UI"/>
              </a:rPr>
              <a:t>any non-authorised write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T0831  </a:t>
            </a:r>
            <a:r>
              <a:rPr sz="900" b="1">
                <a:solidFill>
                  <a:srgbClr val="E6EDF3"/>
                </a:solidFill>
                <a:latin typeface="Segoe UI"/>
              </a:rPr>
              <a:t>Manipulation of Control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coil force FC 5/15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T0836  </a:t>
            </a:r>
            <a:r>
              <a:rPr sz="900" b="1">
                <a:solidFill>
                  <a:srgbClr val="E6EDF3"/>
                </a:solidFill>
                <a:latin typeface="Segoe UI"/>
              </a:rPr>
              <a:t>Modify Parameter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register write 6/16/22/23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T0806  </a:t>
            </a:r>
            <a:r>
              <a:rPr sz="900" b="1">
                <a:solidFill>
                  <a:srgbClr val="E6EDF3"/>
                </a:solidFill>
                <a:latin typeface="Segoe UI"/>
              </a:rPr>
              <a:t>Brute Force I/O  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write bursts, range sweeps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T0816  </a:t>
            </a:r>
            <a:r>
              <a:rPr sz="900" b="1">
                <a:solidFill>
                  <a:srgbClr val="E6EDF3"/>
                </a:solidFill>
                <a:latin typeface="Segoe UI"/>
              </a:rPr>
              <a:t>Device Restart / Shutdown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FC8 sub 0x01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T0814  </a:t>
            </a:r>
            <a:r>
              <a:rPr sz="900" b="1">
                <a:solidFill>
                  <a:srgbClr val="E6EDF3"/>
                </a:solidFill>
                <a:latin typeface="Segoe UI"/>
              </a:rPr>
              <a:t>Denial of Service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FC8 sub 0x04 · flooding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T0856  </a:t>
            </a:r>
            <a:r>
              <a:rPr sz="900" b="1">
                <a:solidFill>
                  <a:srgbClr val="E6EDF3"/>
                </a:solidFill>
                <a:latin typeface="Segoe UI"/>
              </a:rPr>
              <a:t>Spoof Reporting Message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injected responses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T0813  </a:t>
            </a:r>
            <a:r>
              <a:rPr sz="900" b="1">
                <a:solidFill>
                  <a:srgbClr val="E6EDF3"/>
                </a:solidFill>
                <a:latin typeface="Segoe UI"/>
              </a:rPr>
              <a:t>Denial of Control   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the FrostyGoop outcome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8A3D"/>
                </a:solidFill>
                <a:latin typeface="Consolas"/>
              </a:rPr>
              <a:t>T0826  </a:t>
            </a:r>
            <a:r>
              <a:rPr sz="900" b="1">
                <a:solidFill>
                  <a:srgbClr val="E6EDF3"/>
                </a:solidFill>
                <a:latin typeface="Segoe UI"/>
              </a:rPr>
              <a:t>Loss of Availability          </a:t>
            </a:r>
            <a:r>
              <a:rPr sz="850" b="0">
                <a:solidFill>
                  <a:srgbClr val="8FA1B8"/>
                </a:solidFill>
                <a:latin typeface="Segoe UI"/>
              </a:rPr>
              <a:t>600+ buildings, 2 days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62488" y="19879056"/>
            <a:ext cx="5084064" cy="512064"/>
          </a:xfrm>
          <a:prstGeom prst="rect">
            <a:avLst/>
          </a:prstGeom>
          <a:solidFill>
            <a:srgbClr val="19202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890504" y="19943064"/>
            <a:ext cx="48280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00" b="1">
                <a:solidFill>
                  <a:srgbClr val="FF4D5E"/>
                </a:solidFill>
                <a:latin typeface="Segoe UI"/>
              </a:rPr>
              <a:t>SEEN IN THE WILD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E6EDF3"/>
                </a:solidFill>
                <a:latin typeface="Segoe UI"/>
              </a:rPr>
              <a:t>FrostyGoop / BUSTLEBERM — Lvivteploenergo, 22–23 Jan 2024. FC 3/6/16 against ENCO controllers.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20647152"/>
            <a:ext cx="15636240" cy="566928"/>
          </a:xfrm>
          <a:prstGeom prst="rect">
            <a:avLst/>
          </a:prstGeom>
          <a:solidFill>
            <a:srgbClr val="19202C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11480" y="20647152"/>
            <a:ext cx="1563624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20775168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8FA1B8"/>
                </a:solidFill>
                <a:latin typeface="Segoe UI"/>
              </a:rPr>
              <a:t>Function, diagnostic and exception codes verified against the Wireshark Modbus dissector (packet-mbtcp.c/.h) and the Modbus Organization Application Protocol Specification v1.1b3.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Lab reference only — exercise against equipment you are authorised to test. A coil write is a physical output. No client data.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841480" y="20775168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150"/>
              </a:spcAft>
            </a:pPr>
            <a:r>
              <a:rPr sz="900" b="1">
                <a:solidFill>
                  <a:srgbClr val="FFB020"/>
                </a:solidFill>
                <a:latin typeface="Segoe UI"/>
              </a:rPr>
              <a:t>MODBUS — ATTACK &amp; DEFEND</a:t>
            </a:r>
          </a:p>
          <a:p>
            <a:pPr>
              <a:spcAft>
                <a:spcPts val="150"/>
              </a:spcAft>
            </a:pPr>
            <a:r>
              <a:rPr sz="850" b="0">
                <a:solidFill>
                  <a:srgbClr val="64748B"/>
                </a:solidFill>
                <a:latin typeface="Segoe UI"/>
              </a:rPr>
              <a:t>v1.0  ·  August 2026  ·  print at 18 × 24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