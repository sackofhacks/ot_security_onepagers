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0" cy="219456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15636240" cy="129844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5636240" cy="685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B020"/>
                </a:solidFill>
                <a:latin typeface="Segoe UI"/>
              </a:rPr>
              <a:t>CIP</a:t>
            </a:r>
            <a:r>
              <a:rPr sz="3200" b="0">
                <a:solidFill>
                  <a:srgbClr val="64748B"/>
                </a:solidFill>
                <a:latin typeface="Segoe UI"/>
              </a:rPr>
              <a:t>  /  </a:t>
            </a:r>
            <a:r>
              <a:rPr sz="4000" b="1">
                <a:solidFill>
                  <a:srgbClr val="E6EDF3"/>
                </a:solidFill>
                <a:latin typeface="Segoe UI"/>
              </a:rPr>
              <a:t>EtherNet/IP</a:t>
            </a:r>
            <a:r>
              <a:rPr sz="2200" b="1">
                <a:solidFill>
                  <a:srgbClr val="FF4D5E"/>
                </a:solidFill>
                <a:latin typeface="Segoe UI"/>
              </a:rPr>
              <a:t>     ATTACK &amp;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197864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A1B8"/>
                </a:solidFill>
                <a:latin typeface="Segoe UI"/>
              </a:rPr>
              <a:t>The Common Industrial Protocol on the wire — service codes, object classes, and how both sides read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12648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E6EDF3"/>
                </a:solidFill>
                <a:latin typeface="Segoe UI"/>
              </a:rPr>
              <a:t>ODVA  ·  CIP Networks Library Vol 1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Purdue L1–L2  ·  Rockwell ControlLogix / CompactLogix /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Micro8xx / PowerFlex  ·  little-endian on the wire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Spoken by PIPEDREAM (CODECALL) · BAUXITE (AA26-097A)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15636240" cy="548640"/>
          </a:xfrm>
          <a:prstGeom prst="rect">
            <a:avLst/>
          </a:prstGeom>
          <a:solidFill>
            <a:srgbClr val="131822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1660"/>
            <a:ext cx="1517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B020"/>
                </a:solidFill>
                <a:latin typeface="Segoe UI"/>
              </a:rPr>
              <a:t>CIP is objects. </a:t>
            </a:r>
            <a:r>
              <a:rPr sz="1500" b="0">
                <a:solidFill>
                  <a:srgbClr val="E6EDF3"/>
                </a:solidFill>
                <a:latin typeface="Segoe UI"/>
              </a:rPr>
              <a:t>Every request — benign or hostile — is one sentence: </a:t>
            </a:r>
            <a:r>
              <a:rPr sz="1500" b="1">
                <a:solidFill>
                  <a:srgbClr val="22D3EE"/>
                </a:solidFill>
                <a:latin typeface="Consolas"/>
              </a:rPr>
              <a:t>&lt;SERVICE&gt;</a:t>
            </a:r>
            <a:r>
              <a:rPr sz="1500" b="0">
                <a:solidFill>
                  <a:srgbClr val="E6EDF3"/>
                </a:solidFill>
                <a:latin typeface="Segoe UI"/>
              </a:rPr>
              <a:t> on </a:t>
            </a:r>
            <a:r>
              <a:rPr sz="1500" b="1">
                <a:solidFill>
                  <a:srgbClr val="22D3EE"/>
                </a:solidFill>
                <a:latin typeface="Consolas"/>
              </a:rPr>
              <a:t>&lt;CLASS&gt; : &lt;INSTANCE&gt; : &lt;ATTRIBUTE&gt;</a:t>
            </a:r>
            <a:r>
              <a:rPr sz="1500" b="0">
                <a:solidFill>
                  <a:srgbClr val="E6EDF3"/>
                </a:solidFill>
                <a:latin typeface="Segoe UI"/>
              </a:rPr>
              <a:t>.  Learn the triple and the protocol has no secrets.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87168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87168"/>
            <a:ext cx="50292" cy="35844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  </a:t>
            </a:r>
            <a:r>
              <a:rPr sz="1350" b="1">
                <a:solidFill>
                  <a:srgbClr val="0B0E14"/>
                </a:solidFill>
                <a:latin typeface="Segoe UI"/>
              </a:rPr>
              <a:t>WHERE IT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62656"/>
            <a:ext cx="448970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FFB020"/>
                </a:solidFill>
                <a:latin typeface="Consolas"/>
              </a:rPr>
              <a:t>  CIP  </a:t>
            </a:r>
            <a:r>
              <a:rPr sz="950" b="1">
                <a:solidFill>
                  <a:srgbClr val="E6EDF3"/>
                </a:solidFill>
                <a:latin typeface="Segoe UI"/>
              </a:rPr>
              <a:t>  objects · services · EPATH   </a:t>
            </a:r>
            <a:r>
              <a:rPr sz="900" b="0">
                <a:solidFill>
                  <a:srgbClr val="FFB020"/>
                </a:solidFill>
                <a:latin typeface="Segoe UI"/>
              </a:rPr>
              <a:t>← application layer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  ─────────────────────────────────────────────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E6EDF3"/>
                </a:solidFill>
                <a:latin typeface="Segoe UI"/>
              </a:rPr>
              <a:t>  EtherNet/IP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2)   </a:t>
            </a:r>
            <a:r>
              <a:rPr sz="950" b="1">
                <a:solidFill>
                  <a:srgbClr val="E6EDF3"/>
                </a:solidFill>
                <a:latin typeface="Segoe UI"/>
              </a:rPr>
              <a:t>DeviceNet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3)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E6EDF3"/>
                </a:solidFill>
                <a:latin typeface="Segoe UI"/>
              </a:rPr>
              <a:t>  ControlNet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4)     </a:t>
            </a:r>
            <a:r>
              <a:rPr sz="950" b="1">
                <a:solidFill>
                  <a:srgbClr val="E6EDF3"/>
                </a:solidFill>
                <a:latin typeface="Segoe UI"/>
              </a:rPr>
              <a:t>CompoNet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6)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3DDC97"/>
                </a:solidFill>
                <a:latin typeface="Segoe UI"/>
              </a:rPr>
              <a:t>  CIP Safety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5)     </a:t>
            </a:r>
            <a:r>
              <a:rPr sz="950" b="1">
                <a:solidFill>
                  <a:srgbClr val="3DDC97"/>
                </a:solidFill>
                <a:latin typeface="Segoe UI"/>
              </a:rPr>
              <a:t>CIP Security</a:t>
            </a:r>
            <a:r>
              <a:rPr sz="900" b="0">
                <a:solidFill>
                  <a:srgbClr val="64748B"/>
                </a:solidFill>
                <a:latin typeface="Segoe UI"/>
              </a:rPr>
              <a:t> (Vol 8)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  ─────────────────────────────────────────────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8FA1B8"/>
                </a:solidFill>
                <a:latin typeface="Consolas"/>
              </a:rPr>
              <a:t>  TCP / UDP / IP  →  Ethernet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443984"/>
            <a:ext cx="4489703" cy="20116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572000"/>
            <a:ext cx="448970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PORTS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44818/tcp  </a:t>
            </a:r>
            <a:r>
              <a:rPr sz="900" b="0">
                <a:solidFill>
                  <a:srgbClr val="E6EDF3"/>
                </a:solidFill>
                <a:latin typeface="Segoe UI"/>
              </a:rPr>
              <a:t>explicit messaging (req/resp)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44818/udp  </a:t>
            </a:r>
            <a:r>
              <a:rPr sz="900" b="0">
                <a:solidFill>
                  <a:srgbClr val="E6EDF3"/>
                </a:solidFill>
                <a:latin typeface="Segoe UI"/>
              </a:rPr>
              <a:t>ListIdentity discovery </a:t>
            </a:r>
            <a:r>
              <a:rPr sz="900" b="1">
                <a:solidFill>
                  <a:srgbClr val="FF4D5E"/>
                </a:solidFill>
                <a:latin typeface="Segoe UI"/>
              </a:rPr>
              <a:t>← Shodan signature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 2222/udp  </a:t>
            </a:r>
            <a:r>
              <a:rPr sz="900" b="0">
                <a:solidFill>
                  <a:srgbClr val="E6EDF3"/>
                </a:solidFill>
                <a:latin typeface="Segoe UI"/>
              </a:rPr>
              <a:t>implicit class-1 cyclic I/O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DDC97"/>
                </a:solidFill>
                <a:latin typeface="Consolas"/>
              </a:rPr>
              <a:t> 2221/both </a:t>
            </a:r>
            <a:r>
              <a:rPr sz="900" b="0">
                <a:solidFill>
                  <a:srgbClr val="E6EDF3"/>
                </a:solidFill>
                <a:latin typeface="Segoe UI"/>
              </a:rPr>
              <a:t>CIP Security TLS/DTLS </a:t>
            </a:r>
            <a:r>
              <a:rPr sz="900" b="1">
                <a:solidFill>
                  <a:srgbClr val="FF8A3D"/>
                </a:solidFill>
                <a:latin typeface="Segoe UI"/>
              </a:rPr>
              <a:t>— rarely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724144"/>
            <a:ext cx="4489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Explicit = request/response, on demand.  Implicit = cyclic I/O, no per-packet handshake, trivially spoofable.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2487168"/>
            <a:ext cx="4892040" cy="365760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487168"/>
            <a:ext cx="50292" cy="3584448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2  </a:t>
            </a:r>
            <a:r>
              <a:rPr sz="1350" b="1">
                <a:solidFill>
                  <a:srgbClr val="0B0E14"/>
                </a:solidFill>
                <a:latin typeface="Segoe UI"/>
              </a:rPr>
              <a:t>THE OBJECT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962656"/>
            <a:ext cx="448970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E6EDF3"/>
                </a:solidFill>
                <a:latin typeface="Consolas"/>
              </a:rPr>
              <a:t>DEVICE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└─ </a:t>
            </a:r>
            <a:r>
              <a:rPr sz="1000" b="1">
                <a:solidFill>
                  <a:srgbClr val="B388FF"/>
                </a:solidFill>
                <a:latin typeface="Consolas"/>
              </a:rPr>
              <a:t>CLASS</a:t>
            </a:r>
            <a:r>
              <a:rPr sz="950" b="0">
                <a:solidFill>
                  <a:srgbClr val="8FA1B8"/>
                </a:solidFill>
                <a:latin typeface="Consolas"/>
              </a:rPr>
              <a:t>        0x01  Identity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    └─ </a:t>
            </a:r>
            <a:r>
              <a:rPr sz="1000" b="1">
                <a:solidFill>
                  <a:srgbClr val="22D3EE"/>
                </a:solidFill>
                <a:latin typeface="Consolas"/>
              </a:rPr>
              <a:t>INSTANCE</a:t>
            </a:r>
            <a:r>
              <a:rPr sz="950" b="0">
                <a:solidFill>
                  <a:srgbClr val="8FA1B8"/>
                </a:solidFill>
                <a:latin typeface="Consolas"/>
              </a:rPr>
              <a:t>  1, 2, 3 …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        └─ </a:t>
            </a:r>
            <a:r>
              <a:rPr sz="1000" b="1">
                <a:solidFill>
                  <a:srgbClr val="3DDC97"/>
                </a:solidFill>
                <a:latin typeface="Consolas"/>
              </a:rPr>
              <a:t>ATTRIBUTE</a:t>
            </a:r>
            <a:r>
              <a:rPr sz="950" b="0">
                <a:solidFill>
                  <a:srgbClr val="8FA1B8"/>
                </a:solidFill>
                <a:latin typeface="Consolas"/>
              </a:rPr>
              <a:t>  7 = firmware rev</a:t>
            </a:r>
          </a:p>
          <a:p>
            <a:pPr>
              <a:spcAft>
                <a:spcPts val="250"/>
              </a:spcAft>
            </a:pPr>
            <a:r>
              <a:rPr sz="4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FB020"/>
                </a:solidFill>
                <a:latin typeface="Consolas"/>
              </a:rPr>
              <a:t>SERVICE</a:t>
            </a:r>
            <a:r>
              <a:rPr sz="950" b="0">
                <a:solidFill>
                  <a:srgbClr val="8FA1B8"/>
                </a:solidFill>
                <a:latin typeface="Consolas"/>
              </a:rPr>
              <a:t>  0x0E Get_Attribute_Single</a:t>
            </a:r>
          </a:p>
          <a:p>
            <a:pPr>
              <a:spcAft>
                <a:spcPts val="25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acts on that path, encoded as </a:t>
            </a:r>
            <a:r>
              <a:rPr sz="900" b="1">
                <a:solidFill>
                  <a:srgbClr val="FFB020"/>
                </a:solidFill>
                <a:latin typeface="Consolas"/>
              </a:rPr>
              <a:t>EPATH</a:t>
            </a:r>
            <a:r>
              <a:rPr sz="900" b="0">
                <a:solidFill>
                  <a:srgbClr val="E6EDF3"/>
                </a:solidFill>
                <a:latin typeface="Segoe UI"/>
              </a:rPr>
              <a:t> segments.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4718304"/>
            <a:ext cx="4489703" cy="20116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4837176"/>
            <a:ext cx="4489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READS AS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0x0E  0x01 : 1 : 7</a:t>
            </a:r>
            <a:r>
              <a:rPr sz="950" b="0">
                <a:solidFill>
                  <a:srgbClr val="E6EDF3"/>
                </a:solidFill>
                <a:latin typeface="Segoe UI"/>
              </a:rPr>
              <a:t>   → read firmware rev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87568" y="5413248"/>
            <a:ext cx="4489703" cy="621792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3" y="5486400"/>
            <a:ext cx="42336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⚠  TRAP — SERVICE CODES ARE CLASS-SCOPED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</a:t>
            </a:r>
            <a:r>
              <a:rPr sz="850" b="0">
                <a:solidFill>
                  <a:srgbClr val="E6EDF3"/>
                </a:solidFill>
                <a:latin typeface="Segoe UI"/>
              </a:rPr>
              <a:t> = Forward_Close on class </a:t>
            </a:r>
            <a:r>
              <a:rPr sz="850" b="1">
                <a:solidFill>
                  <a:srgbClr val="22D3EE"/>
                </a:solidFill>
                <a:latin typeface="Consolas"/>
              </a:rPr>
              <a:t>0x06</a:t>
            </a:r>
            <a:r>
              <a:rPr sz="850" b="0">
                <a:solidFill>
                  <a:srgbClr val="E6EDF3"/>
                </a:solidFill>
                <a:latin typeface="Segoe UI"/>
              </a:rPr>
              <a:t>, Read Holding Regs on </a:t>
            </a:r>
            <a:r>
              <a:rPr sz="850" b="1">
                <a:solidFill>
                  <a:srgbClr val="22D3EE"/>
                </a:solidFill>
                <a:latin typeface="Consolas"/>
              </a:rPr>
              <a:t>0x44</a:t>
            </a:r>
            <a:r>
              <a:rPr sz="850" b="0">
                <a:solidFill>
                  <a:srgbClr val="E6EDF3"/>
                </a:solidFill>
                <a:latin typeface="Segoe UI"/>
              </a:rPr>
              <a:t>, Read-Modify-Write on Logix tags. Never alert on a service without its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61319" y="2487168"/>
            <a:ext cx="548640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61319" y="2487168"/>
            <a:ext cx="5486400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61319" y="2487168"/>
            <a:ext cx="50292" cy="3584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7" y="253746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3  </a:t>
            </a:r>
            <a:r>
              <a:rPr sz="1350" b="1">
                <a:solidFill>
                  <a:srgbClr val="0B0E14"/>
                </a:solidFill>
                <a:latin typeface="Segoe UI"/>
              </a:rPr>
              <a:t>SESSION &amp; CONNECTION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488" y="2962656"/>
            <a:ext cx="5084064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1  </a:t>
            </a:r>
            <a:r>
              <a:rPr sz="950" b="1">
                <a:solidFill>
                  <a:srgbClr val="E6EDF3"/>
                </a:solidFill>
                <a:latin typeface="Consolas"/>
              </a:rPr>
              <a:t>ListIdentity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0x0063</a:t>
            </a:r>
            <a:r>
              <a:rPr sz="850" b="0">
                <a:solidFill>
                  <a:srgbClr val="8FA1B8"/>
                </a:solidFill>
                <a:latin typeface="Segoe UI"/>
              </a:rPr>
              <a:t>   who is out there, what firmware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2  </a:t>
            </a:r>
            <a:r>
              <a:rPr sz="950" b="1">
                <a:solidFill>
                  <a:srgbClr val="E6EDF3"/>
                </a:solidFill>
                <a:latin typeface="Consolas"/>
              </a:rPr>
              <a:t>ListServices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0x0004</a:t>
            </a:r>
            <a:r>
              <a:rPr sz="850" b="0">
                <a:solidFill>
                  <a:srgbClr val="8FA1B8"/>
                </a:solidFill>
                <a:latin typeface="Segoe UI"/>
              </a:rPr>
              <a:t>   what encapsulation is offered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3  </a:t>
            </a:r>
            <a:r>
              <a:rPr sz="950" b="1">
                <a:solidFill>
                  <a:srgbClr val="E6EDF3"/>
                </a:solidFill>
                <a:latin typeface="Consolas"/>
              </a:rPr>
              <a:t>RegisterSession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0x0065</a:t>
            </a:r>
            <a:r>
              <a:rPr sz="850" b="0">
                <a:solidFill>
                  <a:srgbClr val="8FA1B8"/>
                </a:solidFill>
                <a:latin typeface="Segoe UI"/>
              </a:rPr>
              <a:t>   → session handle</a:t>
            </a:r>
          </a:p>
          <a:p>
            <a:pPr>
              <a:spcAft>
                <a:spcPts val="35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     </a:t>
            </a:r>
            <a:r>
              <a:rPr sz="900" b="1">
                <a:solidFill>
                  <a:srgbClr val="FF4D5E"/>
                </a:solidFill>
                <a:latin typeface="Segoe UI"/>
              </a:rPr>
              <a:t>NO CREDENTIALS. The handle is a cookie, not a login.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4a </a:t>
            </a:r>
            <a:r>
              <a:rPr sz="950" b="1">
                <a:solidFill>
                  <a:srgbClr val="E6EDF3"/>
                </a:solidFill>
                <a:latin typeface="Consolas"/>
              </a:rPr>
              <a:t>SendRRData  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0x006F</a:t>
            </a:r>
            <a:r>
              <a:rPr sz="850" b="0">
                <a:solidFill>
                  <a:srgbClr val="8FA1B8"/>
                </a:solidFill>
                <a:latin typeface="Segoe UI"/>
              </a:rPr>
              <a:t>   unconnected explicit (UCMM)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4b </a:t>
            </a:r>
            <a:r>
              <a:rPr sz="950" b="1">
                <a:solidFill>
                  <a:srgbClr val="E6EDF3"/>
                </a:solidFill>
                <a:latin typeface="Consolas"/>
              </a:rPr>
              <a:t>Forward_Open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  0x54</a:t>
            </a:r>
            <a:r>
              <a:rPr sz="850" b="0">
                <a:solidFill>
                  <a:srgbClr val="8FA1B8"/>
                </a:solidFill>
                <a:latin typeface="Segoe UI"/>
              </a:rPr>
              <a:t>   class 0x06 → Connection ID pair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   </a:t>
            </a:r>
            <a:r>
              <a:rPr sz="950" b="1">
                <a:solidFill>
                  <a:srgbClr val="E6EDF3"/>
                </a:solidFill>
                <a:latin typeface="Consolas"/>
              </a:rPr>
              <a:t>SendUnitData     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0x0070</a:t>
            </a:r>
            <a:r>
              <a:rPr sz="850" b="0">
                <a:solidFill>
                  <a:srgbClr val="8FA1B8"/>
                </a:solidFill>
                <a:latin typeface="Segoe UI"/>
              </a:rPr>
              <a:t>   connected explicit / class-3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5  </a:t>
            </a:r>
            <a:r>
              <a:rPr sz="950" b="1">
                <a:solidFill>
                  <a:srgbClr val="E6EDF3"/>
                </a:solidFill>
                <a:latin typeface="Consolas"/>
              </a:rPr>
              <a:t>class-1 implicit I/O </a:t>
            </a:r>
            <a:r>
              <a:rPr sz="950" b="1">
                <a:solidFill>
                  <a:srgbClr val="FFB020"/>
                </a:solidFill>
                <a:latin typeface="Consolas"/>
              </a:rPr>
              <a:t>udp/2222</a:t>
            </a:r>
            <a:r>
              <a:rPr sz="850" b="0">
                <a:solidFill>
                  <a:srgbClr val="8FA1B8"/>
                </a:solidFill>
                <a:latin typeface="Segoe UI"/>
              </a:rPr>
              <a:t> cyclic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6  </a:t>
            </a:r>
            <a:r>
              <a:rPr sz="950" b="1">
                <a:solidFill>
                  <a:srgbClr val="E6EDF3"/>
                </a:solidFill>
                <a:latin typeface="Consolas"/>
              </a:rPr>
              <a:t>UnRegisterSession </a:t>
            </a:r>
            <a:r>
              <a:rPr sz="950" b="1">
                <a:solidFill>
                  <a:srgbClr val="FFB020"/>
                </a:solidFill>
                <a:latin typeface="Consolas"/>
              </a:rPr>
              <a:t>0x0066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62488" y="5358384"/>
            <a:ext cx="5084064" cy="676656"/>
          </a:xfrm>
          <a:prstGeom prst="rect">
            <a:avLst/>
          </a:prstGeom>
          <a:solidFill>
            <a:srgbClr val="19202C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90504" y="5431536"/>
            <a:ext cx="48280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8A3D"/>
                </a:solidFill>
                <a:latin typeface="Segoe UI"/>
              </a:rPr>
              <a:t>WHY THIS IS THE WHOLE FIGHT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Steps 1–3 are unauthenticated and pre-session. An attacker learns vendor, product code, serial and firmware revision — enough to pick a CVE — before sending a single command.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199632"/>
            <a:ext cx="964692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6199632"/>
            <a:ext cx="9646920" cy="3657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6199632"/>
            <a:ext cx="50292" cy="58704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249924"/>
            <a:ext cx="93360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4  </a:t>
            </a:r>
            <a:r>
              <a:rPr sz="1350" b="1">
                <a:solidFill>
                  <a:srgbClr val="0B0E14"/>
                </a:solidFill>
                <a:latin typeface="Segoe UI"/>
              </a:rPr>
              <a:t>SERVICE CODES — THE WEAPON RACK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colour = what it does to the process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RECON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1619" y="6675120"/>
            <a:ext cx="694944" cy="214884"/>
          </a:xfrm>
          <a:prstGeom prst="roundRect">
            <a:avLst>
              <a:gd name="adj" fmla="val 45000"/>
            </a:avLst>
          </a:prstGeom>
          <a:solidFill>
            <a:srgbClr val="8F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45436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WRITE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6675120"/>
            <a:ext cx="2482596" cy="214884"/>
          </a:xfrm>
          <a:prstGeom prst="roundRect">
            <a:avLst>
              <a:gd name="adj" fmla="val 45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CONTROL / DESTRUCTIVE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65875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PIVOT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7004304"/>
            <a:ext cx="9244584" cy="507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UNIVERSAL  —  valid on almost any object class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0x01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Get_Attributes_All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dump every attribute of an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0x0E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Get_Attribute_Single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read one attribute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0x11   </a:t>
            </a:r>
            <a:r>
              <a:rPr sz="900" b="1">
                <a:solidFill>
                  <a:srgbClr val="E6EDF3"/>
                </a:solidFill>
                <a:latin typeface="Consolas"/>
              </a:rPr>
              <a:t>Find_Next_Object_Instance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walk instances — enumeration primitive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0x03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Get_Attribute_List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batch read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0x04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Set_Attribute_List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batch write of attributes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0x10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Set_Attribute_Single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change one config value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0x02   </a:t>
            </a:r>
            <a:r>
              <a:rPr sz="900" b="1">
                <a:solidFill>
                  <a:srgbClr val="E6EDF3"/>
                </a:solidFill>
                <a:latin typeface="Consolas"/>
              </a:rPr>
              <a:t>Set_Attributes_All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overwrite the whole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0x08   </a:t>
            </a:r>
            <a:r>
              <a:rPr sz="900" b="1">
                <a:solidFill>
                  <a:srgbClr val="E6EDF3"/>
                </a:solidFill>
                <a:latin typeface="Consolas"/>
              </a:rPr>
              <a:t>Create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instantiate an object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0x09   </a:t>
            </a:r>
            <a:r>
              <a:rPr sz="900" b="1">
                <a:solidFill>
                  <a:srgbClr val="E6EDF3"/>
                </a:solidFill>
                <a:latin typeface="Consolas"/>
              </a:rPr>
              <a:t>Delete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destroy an instance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0x0A   </a:t>
            </a:r>
            <a:r>
              <a:rPr sz="900" b="1">
                <a:solidFill>
                  <a:srgbClr val="E6EDF3"/>
                </a:solidFill>
                <a:latin typeface="Consolas"/>
              </a:rPr>
              <a:t>Multiple_Service_Packet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batch N services in one request — evasion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0x16   </a:t>
            </a:r>
            <a:r>
              <a:rPr sz="900" b="1">
                <a:solidFill>
                  <a:srgbClr val="E6EDF3"/>
                </a:solidFill>
                <a:latin typeface="Consolas"/>
              </a:rPr>
              <a:t>Save 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persist config to non-volatile store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0x15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Restore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any 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roll config back from store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0x05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Reset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type 0 = restart · type 1 = FACTORY DEFAULT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0x06   </a:t>
            </a:r>
            <a:r>
              <a:rPr sz="900" b="1">
                <a:solidFill>
                  <a:srgbClr val="E6EDF3"/>
                </a:solidFill>
                <a:latin typeface="Consolas"/>
              </a:rPr>
              <a:t>Start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mode change → RUN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0x07   </a:t>
            </a:r>
            <a:r>
              <a:rPr sz="900" b="1">
                <a:solidFill>
                  <a:srgbClr val="E6EDF3"/>
                </a:solidFill>
                <a:latin typeface="Consolas"/>
              </a:rPr>
              <a:t>Stop    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Identity 0x01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mode change → PROGRAM · process halt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CONNECTION MANAGER  —  class 0x06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0x54   </a:t>
            </a:r>
            <a:r>
              <a:rPr sz="900" b="1">
                <a:solidFill>
                  <a:srgbClr val="E6EDF3"/>
                </a:solidFill>
                <a:latin typeface="Consolas"/>
              </a:rPr>
              <a:t>Forward_Open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open a CIP connection — precursor to control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0x5B   </a:t>
            </a:r>
            <a:r>
              <a:rPr sz="900" b="1">
                <a:solidFill>
                  <a:srgbClr val="E6EDF3"/>
                </a:solidFill>
                <a:latin typeface="Consolas"/>
              </a:rPr>
              <a:t>Large_Forward_Open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same, &gt;511-byte payloads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   </a:t>
            </a:r>
            <a:r>
              <a:rPr sz="900" b="1">
                <a:solidFill>
                  <a:srgbClr val="E6EDF3"/>
                </a:solidFill>
                <a:latin typeface="Consolas"/>
              </a:rPr>
              <a:t>Forward_Close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tear the connection down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0x52   </a:t>
            </a:r>
            <a:r>
              <a:rPr sz="900" b="1">
                <a:solidFill>
                  <a:srgbClr val="E6EDF3"/>
                </a:solidFill>
                <a:latin typeface="Consolas"/>
              </a:rPr>
              <a:t>Unconnected_Send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0x06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route a request through a bridge / backplane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LOGIX TAG SERVICES  —  Symbol class 0x6B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0x4C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Tag 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a tag by symbolic name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0x52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Tag Fragmented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large read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0x4D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Tag   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write a setpoint / data-table value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0x53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Tag Fragmented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large write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0x4E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Read-Modify-Write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0x6B        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atomic bit set — flip a single coil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LEGACY TUNNEL  —  PCCC class 0x67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0x4B   </a:t>
            </a:r>
            <a:r>
              <a:rPr sz="900" b="1">
                <a:solidFill>
                  <a:srgbClr val="E6EDF3"/>
                </a:solidFill>
                <a:latin typeface="Consolas"/>
              </a:rPr>
              <a:t>Execute_PCCC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0x67                  </a:t>
            </a:r>
            <a:r>
              <a:rPr sz="850" b="1">
                <a:solidFill>
                  <a:srgbClr val="B388FF"/>
                </a:solidFill>
                <a:latin typeface="Segoe UI"/>
              </a:rPr>
              <a:t>tunnel SLC-500 / PLC-5 commands behind CIP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6199632"/>
            <a:ext cx="580644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41280" y="6199632"/>
            <a:ext cx="58064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6199632"/>
            <a:ext cx="50292" cy="587044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96728" y="6249924"/>
            <a:ext cx="54955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5  </a:t>
            </a:r>
            <a:r>
              <a:rPr sz="1350" b="1">
                <a:solidFill>
                  <a:srgbClr val="0B0E14"/>
                </a:solidFill>
                <a:latin typeface="Segoe UI"/>
              </a:rPr>
              <a:t>HIGH-VALUE OBJECT CLASSES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2448" y="6675120"/>
            <a:ext cx="5404103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0x01  </a:t>
            </a:r>
            <a:r>
              <a:rPr sz="950" b="1">
                <a:solidFill>
                  <a:srgbClr val="E6EDF3"/>
                </a:solidFill>
                <a:latin typeface="Consolas"/>
              </a:rPr>
              <a:t>Identity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vendor · serial · FIRMWARE REV → CVE. Hosts Reset.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0x02  </a:t>
            </a:r>
            <a:r>
              <a:rPr sz="950" b="1">
                <a:solidFill>
                  <a:srgbClr val="E6EDF3"/>
                </a:solidFill>
                <a:latin typeface="Consolas"/>
              </a:rPr>
              <a:t>Message Router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dispatches every explicit request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0x04  </a:t>
            </a:r>
            <a:r>
              <a:rPr sz="950" b="1">
                <a:solidFill>
                  <a:srgbClr val="E6EDF3"/>
                </a:solidFill>
                <a:latin typeface="Consolas"/>
              </a:rPr>
              <a:t>Assembly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the I/O data blob. Write = direct process manipulation.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0x06  </a:t>
            </a:r>
            <a:r>
              <a:rPr sz="950" b="1">
                <a:solidFill>
                  <a:srgbClr val="E6EDF3"/>
                </a:solidFill>
                <a:latin typeface="Consolas"/>
              </a:rPr>
              <a:t>Connection Manager   </a:t>
            </a:r>
            <a:r>
              <a:rPr sz="850" b="0">
                <a:solidFill>
                  <a:srgbClr val="FF8A3D"/>
                </a:solidFill>
                <a:latin typeface="Segoe UI"/>
              </a:rPr>
              <a:t>Forward_Open, Unconnected_Send (routing / pivot)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0x0F  </a:t>
            </a:r>
            <a:r>
              <a:rPr sz="950" b="1">
                <a:solidFill>
                  <a:srgbClr val="E6EDF3"/>
                </a:solidFill>
                <a:latin typeface="Consolas"/>
              </a:rPr>
              <a:t>Parameter    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device configuration values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0x37  </a:t>
            </a:r>
            <a:r>
              <a:rPr sz="950" b="1">
                <a:solidFill>
                  <a:srgbClr val="E6EDF3"/>
                </a:solidFill>
                <a:latin typeface="Consolas"/>
              </a:rPr>
              <a:t>File      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EDS + FIRMWARE download chain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0x41  </a:t>
            </a:r>
            <a:r>
              <a:rPr sz="950" b="1">
                <a:solidFill>
                  <a:srgbClr val="E6EDF3"/>
                </a:solidFill>
                <a:latin typeface="Consolas"/>
              </a:rPr>
              <a:t>Event Log       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device-side evidence — DEFENDERS: pull this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0x44  </a:t>
            </a:r>
            <a:r>
              <a:rPr sz="950" b="1">
                <a:solidFill>
                  <a:srgbClr val="E6EDF3"/>
                </a:solidFill>
                <a:latin typeface="Consolas"/>
              </a:rPr>
              <a:t>Modbus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Modbus-over-CIP bridge — protocol hop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0x47  </a:t>
            </a:r>
            <a:r>
              <a:rPr sz="950" b="1">
                <a:solidFill>
                  <a:srgbClr val="E6EDF3"/>
                </a:solidFill>
                <a:latin typeface="Consolas"/>
              </a:rPr>
              <a:t>DLR          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ring topology control — disrupt = network partition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0x5D  </a:t>
            </a:r>
            <a:r>
              <a:rPr sz="950" b="1">
                <a:solidFill>
                  <a:srgbClr val="E6EDF3"/>
                </a:solidFill>
                <a:latin typeface="Consolas"/>
              </a:rPr>
              <a:t>CIP Security    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the control plane, if it is switched on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0x5E  </a:t>
            </a:r>
            <a:r>
              <a:rPr sz="950" b="1">
                <a:solidFill>
                  <a:srgbClr val="E6EDF3"/>
                </a:solidFill>
                <a:latin typeface="Consolas"/>
              </a:rPr>
              <a:t>EtherNet/IP Security </a:t>
            </a:r>
            <a:r>
              <a:rPr sz="850" b="0">
                <a:solidFill>
                  <a:srgbClr val="3DDC97"/>
                </a:solidFill>
                <a:latin typeface="Segoe UI"/>
              </a:rPr>
              <a:t>TLS/DTLS config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0x5F  </a:t>
            </a:r>
            <a:r>
              <a:rPr sz="950" b="1">
                <a:solidFill>
                  <a:srgbClr val="E6EDF3"/>
                </a:solidFill>
                <a:latin typeface="Consolas"/>
              </a:rPr>
              <a:t>Certificate Mgmt     </a:t>
            </a:r>
            <a:r>
              <a:rPr sz="850" b="0">
                <a:solidFill>
                  <a:srgbClr val="3DDC97"/>
                </a:solidFill>
                <a:latin typeface="Segoe UI"/>
              </a:rPr>
              <a:t>device certificates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0x67  </a:t>
            </a:r>
            <a:r>
              <a:rPr sz="950" b="1">
                <a:solidFill>
                  <a:srgbClr val="E6EDF3"/>
                </a:solidFill>
                <a:latin typeface="Consolas"/>
              </a:rPr>
              <a:t>PCCC  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legacy SLC / PLC-5 tunnel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0x6B  </a:t>
            </a:r>
            <a:r>
              <a:rPr sz="950" b="1">
                <a:solidFill>
                  <a:srgbClr val="E6EDF3"/>
                </a:solidFill>
                <a:latin typeface="Consolas"/>
              </a:rPr>
              <a:t>Symbol  (Logix)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the TAG NAMESPACE. Enumerate = read the process design.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0x6C  </a:t>
            </a:r>
            <a:r>
              <a:rPr sz="950" b="1">
                <a:solidFill>
                  <a:srgbClr val="E6EDF3"/>
                </a:solidFill>
                <a:latin typeface="Consolas"/>
              </a:rPr>
              <a:t>Template (Logix)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UDT structure definitions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0xF3  </a:t>
            </a:r>
            <a:r>
              <a:rPr sz="950" b="1">
                <a:solidFill>
                  <a:srgbClr val="E6EDF3"/>
                </a:solidFill>
                <a:latin typeface="Consolas"/>
              </a:rPr>
              <a:t>Conn. Config (CCO)   </a:t>
            </a:r>
            <a:r>
              <a:rPr sz="850" b="0">
                <a:solidFill>
                  <a:srgbClr val="FF8A3D"/>
                </a:solidFill>
                <a:latin typeface="Segoe UI"/>
              </a:rPr>
              <a:t>connection provisioning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0xF4  </a:t>
            </a:r>
            <a:r>
              <a:rPr sz="950" b="1">
                <a:solidFill>
                  <a:srgbClr val="E6EDF3"/>
                </a:solidFill>
                <a:latin typeface="Consolas"/>
              </a:rPr>
              <a:t>Port      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backplane / network port map — reveals topology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0xF5  </a:t>
            </a:r>
            <a:r>
              <a:rPr sz="950" b="1">
                <a:solidFill>
                  <a:srgbClr val="E6EDF3"/>
                </a:solidFill>
                <a:latin typeface="Consolas"/>
              </a:rPr>
              <a:t>TCP/IP Interface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write = re-IP the device</a:t>
            </a:r>
          </a:p>
          <a:p>
            <a:pPr>
              <a:spcAft>
                <a:spcPts val="26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0xF6  </a:t>
            </a:r>
            <a:r>
              <a:rPr sz="950" b="1">
                <a:solidFill>
                  <a:srgbClr val="E6EDF3"/>
                </a:solidFill>
                <a:latin typeface="Consolas"/>
              </a:rPr>
              <a:t>Ethernet Link        </a:t>
            </a:r>
            <a:r>
              <a:rPr sz="850" b="0">
                <a:solidFill>
                  <a:srgbClr val="FF8A3D"/>
                </a:solidFill>
                <a:latin typeface="Segoe UI"/>
              </a:rPr>
              <a:t>link config + counters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2448" y="11292840"/>
            <a:ext cx="5404103" cy="658368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70464" y="11365992"/>
            <a:ext cx="514807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THE CROWN JEWEL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Symbol object </a:t>
            </a:r>
            <a:r>
              <a:rPr sz="850" b="1">
                <a:solidFill>
                  <a:srgbClr val="22D3EE"/>
                </a:solidFill>
                <a:latin typeface="Consolas"/>
              </a:rPr>
              <a:t>0x6B</a:t>
            </a:r>
            <a:r>
              <a:rPr sz="850" b="0">
                <a:solidFill>
                  <a:srgbClr val="E6EDF3"/>
                </a:solidFill>
                <a:latin typeface="Segoe UI"/>
              </a:rPr>
              <a:t> + Get_Instance_Attribute_List dumps every tag name in the controller. PUMP_1_SPEED, VALVE_HS201_CMD — the process design, unauthenticated.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12216384"/>
            <a:ext cx="7726679" cy="36576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12216384"/>
            <a:ext cx="50292" cy="4828032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6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ATTACKER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ICS Kill Chain — Stage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12691872"/>
            <a:ext cx="7324344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1  DISCOVER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ListIdentity 0x0063 broadcast on udp/44818, or a unicast sweep. Shodan: port:44818. Returns vendor, product code, serial, firmware rev, IP — unauthenticated, pre-session.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2  ENUMERATE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Get_Attributes_All on Identity · Find_Next_Object_Instance to walk classes · Get_Instance_Attribute_List on Symbol 0x6B to dump the tag namespace. Tag names leak the process semantics.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3  ESTABLISH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RegisterSession 0x0065 — no credentials required. Forward_Open 0x54 for a class-3 connection when you need ordered, connected messaging.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4  MANIPULATE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Write Tag 0x4D to a setpoint · Set_Attribute_Single 0x10 to change config · write the Assembly object 0x04 for direct I/O. Batch with Multiple_Service_Packet 0x0A to compress the burst.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5  DISRUPT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Stop 0x07 drops the controller to PROGRAM · Reset 0x05 type 1 restores factory defaults · flood Forward_Open to exhaust the connection table.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6  PERSIST / DESTROY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Firmware push via the File object 0x37 · PCCC tunnel 0x4B to legacy SLC/PLC-5 behind the controller · Unconnected_Send 0x52 to route deeper into the backplane.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16312896"/>
            <a:ext cx="7324344" cy="658368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16386047"/>
            <a:ext cx="70683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WHY IT WORKS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Base CIP has no authentication, no encryption and no message integrity. The session handle is not a credential. Off-the-shelf tooling speaks it fluently: pycomm3, cpppo, plcscan, Metasploit ethernetip modules.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21040" y="12216384"/>
            <a:ext cx="7726679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40" y="12216384"/>
            <a:ext cx="50292" cy="4828032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7  </a:t>
            </a:r>
            <a:r>
              <a:rPr sz="1350" b="1">
                <a:solidFill>
                  <a:srgbClr val="0B0E14"/>
                </a:solidFill>
                <a:latin typeface="Segoe UI"/>
              </a:rPr>
              <a:t>DEFENDER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capture → parse → triage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12691872"/>
            <a:ext cx="732434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CAPTURE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bpf: tcp port 44818 or udp port 2222 or udp port 44818 or port 2221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TAP in preference to SPAN, positioned at the L2/L3 conduit.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ZEEK — ICSNPP-ENIP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enip.log · cip.log · cip_io.log · cip_identity.log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→ service, class, instance, tag, status per request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SURICATA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enip_command:0x006f;  cip_service:0x4d;  cip_class:0x6b</a:t>
            </a:r>
          </a:p>
          <a:p>
            <a:pPr>
              <a:spcAft>
                <a:spcPts val="80"/>
              </a:spcAft>
            </a:pPr>
            <a:r>
              <a:rPr sz="850" b="1">
                <a:solidFill>
                  <a:srgbClr val="FF8A3D"/>
                </a:solidFill>
                <a:latin typeface="Segoe UI"/>
              </a:rPr>
              <a:t>Always pair the service with the class — see TRAP, panel 2.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WIRESHARK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cip.service == 0x4d &amp;&amp; cip.class == 0x6b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enip.command == 0x63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22208" y="15087600"/>
            <a:ext cx="7324344" cy="786384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0224" y="15151608"/>
            <a:ext cx="706831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50" b="1">
                <a:solidFill>
                  <a:srgbClr val="3DDC97"/>
                </a:solidFill>
                <a:latin typeface="Segoe UI"/>
              </a:rPr>
              <a:t>TRIAGE LOGIC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Is the service Write / Set / Stop / Reset / Forward_Open-then-write?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→ is the source an authorised EWS or HMI in the baseline?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→ inside a change window, matching a ticket?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FF4D5E"/>
                </a:solidFill>
                <a:latin typeface="Segoe UI"/>
              </a:rPr>
              <a:t>write-class + non-EWS + no window  →  ESCALATE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2208" y="15928847"/>
            <a:ext cx="7324344" cy="969264"/>
          </a:xfrm>
          <a:prstGeom prst="rect">
            <a:avLst/>
          </a:prstGeom>
          <a:solidFill>
            <a:srgbClr val="19202C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15992855"/>
            <a:ext cx="70683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★  THE FALSE-ZERO RULE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A manipulation-class count of </a:t>
            </a:r>
            <a:r>
              <a:rPr sz="900" b="1">
                <a:solidFill>
                  <a:srgbClr val="FFB020"/>
                </a:solidFill>
                <a:latin typeface="Consolas"/>
              </a:rPr>
              <a:t>0</a:t>
            </a:r>
            <a:r>
              <a:rPr sz="850" b="0">
                <a:solidFill>
                  <a:srgbClr val="E6EDF3"/>
                </a:solidFill>
                <a:latin typeface="Segoe UI"/>
              </a:rPr>
              <a:t> is a defensible Negative </a:t>
            </a:r>
            <a:r>
              <a:rPr sz="850" b="1">
                <a:solidFill>
                  <a:srgbClr val="FFB020"/>
                </a:solidFill>
                <a:latin typeface="Segoe UI"/>
              </a:rPr>
              <a:t>only</a:t>
            </a:r>
            <a:r>
              <a:rPr sz="850" b="0">
                <a:solidFill>
                  <a:srgbClr val="E6EDF3"/>
                </a:solidFill>
                <a:latin typeface="Segoe UI"/>
              </a:rPr>
              <a:t> when the benign-runtime classes — Read Tag </a:t>
            </a:r>
            <a:r>
              <a:rPr sz="850" b="1">
                <a:solidFill>
                  <a:srgbClr val="22D3EE"/>
                </a:solidFill>
                <a:latin typeface="Consolas"/>
              </a:rPr>
              <a:t>0x4C</a:t>
            </a:r>
            <a:r>
              <a:rPr sz="850" b="0">
                <a:solidFill>
                  <a:srgbClr val="E6EDF3"/>
                </a:solidFill>
                <a:latin typeface="Segoe UI"/>
              </a:rPr>
              <a:t>, Write Tag </a:t>
            </a:r>
            <a:r>
              <a:rPr sz="850" b="1">
                <a:solidFill>
                  <a:srgbClr val="22D3EE"/>
                </a:solidFill>
                <a:latin typeface="Consolas"/>
              </a:rPr>
              <a:t>0x4D</a:t>
            </a:r>
            <a:r>
              <a:rPr sz="850" b="0">
                <a:solidFill>
                  <a:srgbClr val="E6EDF3"/>
                </a:solidFill>
                <a:latin typeface="Segoe UI"/>
              </a:rPr>
              <a:t>, Forward_Open </a:t>
            </a:r>
            <a:r>
              <a:rPr sz="850" b="1">
                <a:solidFill>
                  <a:srgbClr val="22D3EE"/>
                </a:solidFill>
                <a:latin typeface="Consolas"/>
              </a:rPr>
              <a:t>0x54</a:t>
            </a:r>
            <a:r>
              <a:rPr sz="850" b="0">
                <a:solidFill>
                  <a:srgbClr val="E6EDF3"/>
                </a:solidFill>
                <a:latin typeface="Segoe UI"/>
              </a:rPr>
              <a:t> — are non-zero in the same capture. Those prove the capture point actually sees the CIP conversation.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FF4D5E"/>
                </a:solidFill>
                <a:latin typeface="Segoe UI"/>
              </a:rPr>
              <a:t>All-zero across every service is a capture gap, not a clean hunt. Report Non-Conclusive, never Negative.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17190720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17190720"/>
            <a:ext cx="50292" cy="331012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8  </a:t>
            </a:r>
            <a:r>
              <a:rPr sz="1350" b="1">
                <a:solidFill>
                  <a:srgbClr val="0B0E14"/>
                </a:solidFill>
                <a:latin typeface="Segoe UI"/>
              </a:rPr>
              <a:t>NORMAL vs SUSPICIOUS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NORMAL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HMI/SCADA polling Read Tag at a steady cadence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EWS writes during a known change window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class-1 I/O between established producer/consumer pairs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ListIdentity from the asset-inventory scanner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SUSPICIOUS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Write Tag / Set_Attribute / Stop / Reset from a non-EWS source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ListIdentity from an internet-side or first-seen internal IP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first-seen class-1 producer to a controller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Forward_Open followed by a burst of writes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Execute_PCCC from an unexpected host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Multiple_Service_Packet batching write services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Symbol-object enumeration sweep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0" y="17190720"/>
            <a:ext cx="48920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0" y="17190720"/>
            <a:ext cx="50292" cy="33101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4184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9  </a:t>
            </a:r>
            <a:r>
              <a:rPr sz="1350" b="1">
                <a:solidFill>
                  <a:srgbClr val="0B0E14"/>
                </a:solidFill>
                <a:latin typeface="Segoe UI"/>
              </a:rPr>
              <a:t>HARDENING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8756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1. </a:t>
            </a:r>
            <a:r>
              <a:rPr sz="850" b="0">
                <a:solidFill>
                  <a:srgbClr val="E6EDF3"/>
                </a:solidFill>
                <a:latin typeface="Segoe UI"/>
              </a:rPr>
              <a:t>Controller keyswitch in RUN — a hardware veto on remote mode change and download.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2. </a:t>
            </a:r>
            <a:r>
              <a:rPr sz="850" b="0">
                <a:solidFill>
                  <a:srgbClr val="E6EDF3"/>
                </a:solidFill>
                <a:latin typeface="Segoe UI"/>
              </a:rPr>
              <a:t>Enable CIP Security (Vol 8): TLS/DTLS on 2221, device authentication and integrity.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3. </a:t>
            </a:r>
            <a:r>
              <a:rPr sz="850" b="0">
                <a:solidFill>
                  <a:srgbClr val="E6EDF3"/>
                </a:solidFill>
                <a:latin typeface="Segoe UI"/>
              </a:rPr>
              <a:t>Segment into cell/area zones; conduit-filter 44818 and 2222 to named EWS/HMI only.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4. </a:t>
            </a:r>
            <a:r>
              <a:rPr sz="850" b="0">
                <a:solidFill>
                  <a:srgbClr val="E6EDF3"/>
                </a:solidFill>
                <a:latin typeface="Segoe UI"/>
              </a:rPr>
              <a:t>Allowlist by source — CIP has no auth, so the network IS the access control.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5. </a:t>
            </a:r>
            <a:r>
              <a:rPr sz="850" b="0">
                <a:solidFill>
                  <a:srgbClr val="E6EDF3"/>
                </a:solidFill>
                <a:latin typeface="Segoe UI"/>
              </a:rPr>
              <a:t>Disable unused objects; strip the PCCC object where no legacy gear sits behind it.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6. </a:t>
            </a:r>
            <a:r>
              <a:rPr sz="850" b="0">
                <a:solidFill>
                  <a:srgbClr val="E6EDF3"/>
                </a:solidFill>
                <a:latin typeface="Segoe UI"/>
              </a:rPr>
              <a:t>Signed firmware only; monitor the File object 0x37.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7. </a:t>
            </a:r>
            <a:r>
              <a:rPr sz="850" b="0">
                <a:solidFill>
                  <a:srgbClr val="E6EDF3"/>
                </a:solidFill>
                <a:latin typeface="Segoe UI"/>
              </a:rPr>
              <a:t>Baseline the CIP conversation: which source, which service, which class.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8. </a:t>
            </a:r>
            <a:r>
              <a:rPr sz="850" b="0">
                <a:solidFill>
                  <a:srgbClr val="E6EDF3"/>
                </a:solidFill>
                <a:latin typeface="Segoe UI"/>
              </a:rPr>
              <a:t>Ship the device Event Log (0x41) to the SIEM.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9. </a:t>
            </a:r>
            <a:r>
              <a:rPr sz="850" b="0">
                <a:solidFill>
                  <a:srgbClr val="E6EDF3"/>
                </a:solidFill>
                <a:latin typeface="Segoe UI"/>
              </a:rPr>
              <a:t>Never expose 44818 to the internet — check Shodan/Censys against your own ASN.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87568" y="20043648"/>
            <a:ext cx="4489703" cy="347472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97296" y="20107656"/>
            <a:ext cx="42702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Top 20 Secure PLC Coding Practices  ·  IEC 62443-3-3  ·  NIST SP 800-82r3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61319" y="17190720"/>
            <a:ext cx="548640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61319" y="17190720"/>
            <a:ext cx="5486400" cy="3657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1319" y="17190720"/>
            <a:ext cx="50292" cy="33101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16767" y="17241012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10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ATT&amp;CK for 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62488" y="17666208"/>
            <a:ext cx="508406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T0846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Discovery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ListIdentity sweep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T0888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Info Discovery  </a:t>
            </a:r>
            <a:r>
              <a:rPr sz="850" b="0">
                <a:solidFill>
                  <a:srgbClr val="8FA1B8"/>
                </a:solidFill>
                <a:latin typeface="Segoe UI"/>
              </a:rPr>
              <a:t>Get_Attributes_All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T0861  </a:t>
            </a:r>
            <a:r>
              <a:rPr sz="900" b="1">
                <a:solidFill>
                  <a:srgbClr val="E6EDF3"/>
                </a:solidFill>
                <a:latin typeface="Segoe UI"/>
              </a:rPr>
              <a:t>Point &amp; Tag Identification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Symbol 0x6B enumeration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T0855  </a:t>
            </a:r>
            <a:r>
              <a:rPr sz="900" b="1">
                <a:solidFill>
                  <a:srgbClr val="E6EDF3"/>
                </a:solidFill>
                <a:latin typeface="Segoe UI"/>
              </a:rPr>
              <a:t>Unauthorized Command Message  </a:t>
            </a:r>
            <a:r>
              <a:rPr sz="850" b="0">
                <a:solidFill>
                  <a:srgbClr val="8FA1B8"/>
                </a:solidFill>
                <a:latin typeface="Segoe UI"/>
              </a:rPr>
              <a:t>any unsanctioned service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T0836  </a:t>
            </a:r>
            <a:r>
              <a:rPr sz="900" b="1">
                <a:solidFill>
                  <a:srgbClr val="E6EDF3"/>
                </a:solidFill>
                <a:latin typeface="Segoe UI"/>
              </a:rPr>
              <a:t>Modify Parameter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Write Tag / Set_Attribute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T0843  </a:t>
            </a:r>
            <a:r>
              <a:rPr sz="900" b="1">
                <a:solidFill>
                  <a:srgbClr val="E6EDF3"/>
                </a:solidFill>
                <a:latin typeface="Segoe UI"/>
              </a:rPr>
              <a:t>Program Download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transfer to controller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T0845  </a:t>
            </a:r>
            <a:r>
              <a:rPr sz="900" b="1">
                <a:solidFill>
                  <a:srgbClr val="E6EDF3"/>
                </a:solidFill>
                <a:latin typeface="Segoe UI"/>
              </a:rPr>
              <a:t>Program Upload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theft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T0889  </a:t>
            </a:r>
            <a:r>
              <a:rPr sz="900" b="1">
                <a:solidFill>
                  <a:srgbClr val="E6EDF3"/>
                </a:solidFill>
                <a:latin typeface="Segoe UI"/>
              </a:rPr>
              <a:t>Modify Program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logic tamper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T0858  </a:t>
            </a:r>
            <a:r>
              <a:rPr sz="900" b="1">
                <a:solidFill>
                  <a:srgbClr val="E6EDF3"/>
                </a:solidFill>
                <a:latin typeface="Segoe UI"/>
              </a:rPr>
              <a:t>Change Operating Mode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Start 0x06 / Stop 0x07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T0816  </a:t>
            </a:r>
            <a:r>
              <a:rPr sz="900" b="1">
                <a:solidFill>
                  <a:srgbClr val="E6EDF3"/>
                </a:solidFill>
                <a:latin typeface="Segoe UI"/>
              </a:rPr>
              <a:t>Device Restart / Shutdown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Reset 0x05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T0800  </a:t>
            </a:r>
            <a:r>
              <a:rPr sz="900" b="1">
                <a:solidFill>
                  <a:srgbClr val="E6EDF3"/>
                </a:solidFill>
                <a:latin typeface="Segoe UI"/>
              </a:rPr>
              <a:t>Activate Firmware Update Mode </a:t>
            </a:r>
            <a:r>
              <a:rPr sz="850" b="0">
                <a:solidFill>
                  <a:srgbClr val="8FA1B8"/>
                </a:solidFill>
                <a:latin typeface="Segoe UI"/>
              </a:rPr>
              <a:t>File object 0x37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62488" y="19879056"/>
            <a:ext cx="5084064" cy="512064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90504" y="19943064"/>
            <a:ext cx="48280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00" b="1">
                <a:solidFill>
                  <a:srgbClr val="FF4D5E"/>
                </a:solidFill>
                <a:latin typeface="Segoe UI"/>
              </a:rPr>
              <a:t>SEEN IN THE WILD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PIPEDREAM / CODECALL (CHERNOVITE)  ·  BAUXITE Rockwell campaign, CISA AA26-097A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20647152"/>
            <a:ext cx="15636240" cy="56692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1480" y="20647152"/>
            <a:ext cx="1563624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077516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Hex values verified against the Wireshark ENIP/CIP dissectors (packet-enip.c, packet-cip.h/.c), ODVA EtherNet/IP Developers Guide, and Rockwell Logix 5000 Data Access (1756-PM020).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Lab reference only — exercise against equipment you are authorised to test. CIP writes move physical process. No client data.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841480" y="20775168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15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CIP / EtherNet/IP — ATTACK &amp; DEFEND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v1.0  ·  August 2026  ·  print at 18 × 24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