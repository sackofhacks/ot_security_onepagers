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6459200" cy="21945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00" cy="21945600"/>
          </a:xfrm>
          <a:prstGeom prst="rect">
            <a:avLst/>
          </a:prstGeom>
          <a:solidFill>
            <a:srgbClr val="0B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411480"/>
            <a:ext cx="15636240" cy="1298448"/>
          </a:xfrm>
          <a:prstGeom prst="rect">
            <a:avLst/>
          </a:prstGeom>
          <a:solidFill>
            <a:srgbClr val="19202C"/>
          </a:solidFill>
          <a:ln w="12700">
            <a:solidFill>
              <a:srgbClr val="2A33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411480" y="411480"/>
            <a:ext cx="15636240" cy="64008"/>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594360"/>
            <a:ext cx="10424160" cy="566928"/>
          </a:xfrm>
          <a:prstGeom prst="rect">
            <a:avLst/>
          </a:prstGeom>
          <a:noFill/>
        </p:spPr>
        <p:txBody>
          <a:bodyPr wrap="square" lIns="0" rIns="0" tIns="0" bIns="0">
            <a:spAutoFit/>
          </a:bodyPr>
          <a:lstStyle/>
          <a:p>
            <a:r>
              <a:rPr sz="4000" b="1">
                <a:solidFill>
                  <a:srgbClr val="FFB020"/>
                </a:solidFill>
                <a:latin typeface="Segoe UI"/>
              </a:rPr>
              <a:t>DNP3</a:t>
            </a:r>
            <a:r>
              <a:rPr sz="2200" b="1">
                <a:solidFill>
                  <a:srgbClr val="FF4D5E"/>
                </a:solidFill>
                <a:latin typeface="Segoe UI"/>
              </a:rPr>
              <a:t>     ATTACK &amp; DEFEND</a:t>
            </a:r>
          </a:p>
        </p:txBody>
      </p:sp>
      <p:sp>
        <p:nvSpPr>
          <p:cNvPr id="6" name="TextBox 5"/>
          <p:cNvSpPr txBox="1"/>
          <p:nvPr/>
        </p:nvSpPr>
        <p:spPr>
          <a:xfrm>
            <a:off x="704088" y="1197864"/>
            <a:ext cx="10424160" cy="384048"/>
          </a:xfrm>
          <a:prstGeom prst="rect">
            <a:avLst/>
          </a:prstGeom>
          <a:noFill/>
        </p:spPr>
        <p:txBody>
          <a:bodyPr wrap="square" lIns="0" rIns="0" tIns="0" bIns="0">
            <a:spAutoFit/>
          </a:bodyPr>
          <a:lstStyle/>
          <a:p>
            <a:r>
              <a:rPr sz="1250" b="0">
                <a:solidFill>
                  <a:srgbClr val="8FA1B8"/>
                </a:solidFill>
                <a:latin typeface="Segoe UI"/>
              </a:rPr>
              <a:t>The SCADA protocol under the North American grid — three sublayers, one control code, and no idea who you are.</a:t>
            </a:r>
          </a:p>
        </p:txBody>
      </p:sp>
      <p:sp>
        <p:nvSpPr>
          <p:cNvPr id="7" name="TextBox 6"/>
          <p:cNvSpPr txBox="1"/>
          <p:nvPr/>
        </p:nvSpPr>
        <p:spPr>
          <a:xfrm>
            <a:off x="10927080" y="612648"/>
            <a:ext cx="4846320" cy="960120"/>
          </a:xfrm>
          <a:prstGeom prst="rect">
            <a:avLst/>
          </a:prstGeom>
          <a:noFill/>
        </p:spPr>
        <p:txBody>
          <a:bodyPr wrap="square" lIns="0" rIns="0" tIns="0" bIns="0">
            <a:spAutoFit/>
          </a:bodyPr>
          <a:lstStyle/>
          <a:p>
            <a:pPr algn="r">
              <a:lnSpc>
                <a:spcPts val="1300"/>
              </a:lnSpc>
            </a:pPr>
            <a:r>
              <a:rPr sz="1100" b="1">
                <a:solidFill>
                  <a:srgbClr val="E6EDF3"/>
                </a:solidFill>
                <a:latin typeface="Segoe UI"/>
              </a:rPr>
              <a:t>IEEE 1815-2012  ·  DNP Users Group object library</a:t>
            </a:r>
          </a:p>
          <a:p>
            <a:pPr algn="r">
              <a:lnSpc>
                <a:spcPts val="1300"/>
              </a:lnSpc>
            </a:pPr>
            <a:r>
              <a:rPr sz="1000" b="0">
                <a:solidFill>
                  <a:srgbClr val="8FA1B8"/>
                </a:solidFill>
                <a:latin typeface="Segoe UI"/>
              </a:rPr>
              <a:t>Purdue L1–L2  ·  master ↔ outstation (RTU/IED)  ·  long-haul WAN</a:t>
            </a:r>
          </a:p>
          <a:p>
            <a:pPr algn="r">
              <a:lnSpc>
                <a:spcPts val="1300"/>
              </a:lnSpc>
            </a:pPr>
            <a:r>
              <a:rPr sz="1000" b="0">
                <a:solidFill>
                  <a:srgbClr val="8FA1B8"/>
                </a:solidFill>
                <a:latin typeface="Segoe UI"/>
              </a:rPr>
              <a:t>16-bit link addresses, little-endian  ·  CRC poly 0x3D65</a:t>
            </a:r>
          </a:p>
          <a:p>
            <a:pPr algn="r">
              <a:lnSpc>
                <a:spcPts val="1300"/>
              </a:lnSpc>
            </a:pPr>
            <a:r>
              <a:rPr sz="1000" b="1">
                <a:solidFill>
                  <a:srgbClr val="FF4D5E"/>
                </a:solidFill>
                <a:latin typeface="Segoe UI"/>
              </a:rPr>
              <a:t>Broken open by Project Robus — Crain &amp; Sistrunk, 2013–14</a:t>
            </a:r>
          </a:p>
        </p:txBody>
      </p:sp>
      <p:sp>
        <p:nvSpPr>
          <p:cNvPr id="8" name="Rectangle 7"/>
          <p:cNvSpPr/>
          <p:nvPr/>
        </p:nvSpPr>
        <p:spPr>
          <a:xfrm>
            <a:off x="411480" y="1801368"/>
            <a:ext cx="15636240" cy="548640"/>
          </a:xfrm>
          <a:prstGeom prst="rect">
            <a:avLst/>
          </a:prstGeom>
          <a:solidFill>
            <a:srgbClr val="131822"/>
          </a:solidFill>
          <a:ln w="15875">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847088"/>
            <a:ext cx="15179040" cy="457200"/>
          </a:xfrm>
          <a:prstGeom prst="rect">
            <a:avLst/>
          </a:prstGeom>
          <a:noFill/>
        </p:spPr>
        <p:txBody>
          <a:bodyPr wrap="square" lIns="0" rIns="0" tIns="0" bIns="0">
            <a:spAutoFit/>
          </a:bodyPr>
          <a:lstStyle/>
          <a:p>
            <a:r>
              <a:rPr sz="1500" b="1">
                <a:solidFill>
                  <a:srgbClr val="FFB020"/>
                </a:solidFill>
                <a:latin typeface="Segoe UI"/>
              </a:rPr>
              <a:t>DNP3 asks twice before it trips a breaker.</a:t>
            </a:r>
            <a:r>
              <a:rPr sz="1500" b="0">
                <a:solidFill>
                  <a:srgbClr val="E6EDF3"/>
                </a:solidFill>
                <a:latin typeface="Segoe UI"/>
              </a:rPr>
              <a:t>  Select arms the point, Operate fires it — and neither message asks who you are. </a:t>
            </a:r>
            <a:r>
              <a:rPr sz="1500" b="1">
                <a:solidFill>
                  <a:srgbClr val="22D3EE"/>
                </a:solidFill>
                <a:latin typeface="Consolas"/>
              </a:rPr>
              <a:t>FC 5 Direct Operate</a:t>
            </a:r>
            <a:r>
              <a:rPr sz="1500" b="0">
                <a:solidFill>
                  <a:srgbClr val="E6EDF3"/>
                </a:solidFill>
                <a:latin typeface="Segoe UI"/>
              </a:rPr>
              <a:t> skips the first.</a:t>
            </a:r>
          </a:p>
        </p:txBody>
      </p:sp>
      <p:sp>
        <p:nvSpPr>
          <p:cNvPr id="10" name="Rectangle 9"/>
          <p:cNvSpPr/>
          <p:nvPr/>
        </p:nvSpPr>
        <p:spPr>
          <a:xfrm>
            <a:off x="411480" y="2487168"/>
            <a:ext cx="4892040" cy="3584448"/>
          </a:xfrm>
          <a:prstGeom prst="rect">
            <a:avLst/>
          </a:prstGeom>
          <a:solidFill>
            <a:srgbClr val="131822"/>
          </a:solidFill>
          <a:ln w="12700">
            <a:solidFill>
              <a:srgbClr val="2A33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11480" y="2487168"/>
            <a:ext cx="4892040" cy="36576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11480" y="2487168"/>
            <a:ext cx="54864" cy="3584448"/>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66928" y="2532888"/>
            <a:ext cx="4581144" cy="274320"/>
          </a:xfrm>
          <a:prstGeom prst="rect">
            <a:avLst/>
          </a:prstGeom>
          <a:noFill/>
        </p:spPr>
        <p:txBody>
          <a:bodyPr wrap="square" lIns="0" rIns="0" tIns="0" bIns="0">
            <a:spAutoFit/>
          </a:bodyPr>
          <a:lstStyle/>
          <a:p>
            <a:r>
              <a:rPr sz="1350" b="1">
                <a:solidFill>
                  <a:srgbClr val="0B0E14"/>
                </a:solidFill>
                <a:latin typeface="Segoe UI"/>
              </a:rPr>
              <a:t>1  </a:t>
            </a:r>
            <a:r>
              <a:rPr sz="1350" b="1">
                <a:solidFill>
                  <a:srgbClr val="0B0E14"/>
                </a:solidFill>
                <a:latin typeface="Segoe UI"/>
              </a:rPr>
              <a:t>WHERE IT LIVES</a:t>
            </a:r>
          </a:p>
        </p:txBody>
      </p:sp>
      <p:sp>
        <p:nvSpPr>
          <p:cNvPr id="14" name="TextBox 13"/>
          <p:cNvSpPr txBox="1"/>
          <p:nvPr/>
        </p:nvSpPr>
        <p:spPr>
          <a:xfrm>
            <a:off x="612648" y="2962656"/>
            <a:ext cx="4489704" cy="1005840"/>
          </a:xfrm>
          <a:prstGeom prst="rect">
            <a:avLst/>
          </a:prstGeom>
          <a:noFill/>
        </p:spPr>
        <p:txBody>
          <a:bodyPr wrap="square" lIns="0" rIns="0" tIns="0" bIns="0">
            <a:spAutoFit/>
          </a:bodyPr>
          <a:lstStyle/>
          <a:p>
            <a:pPr>
              <a:lnSpc>
                <a:spcPts val="1250"/>
              </a:lnSpc>
              <a:spcAft>
                <a:spcPts val="0"/>
              </a:spcAft>
            </a:pPr>
            <a:r>
              <a:rPr sz="1000" b="1">
                <a:solidFill>
                  <a:srgbClr val="FFB020"/>
                </a:solidFill>
                <a:latin typeface="Segoe UI"/>
              </a:rPr>
              <a:t>STACK</a:t>
            </a:r>
          </a:p>
          <a:p>
            <a:pPr>
              <a:lnSpc>
                <a:spcPts val="1250"/>
              </a:lnSpc>
              <a:spcAft>
                <a:spcPts val="0"/>
              </a:spcAft>
            </a:pPr>
            <a:r>
              <a:rPr sz="950" b="1">
                <a:solidFill>
                  <a:srgbClr val="E6EDF3"/>
                </a:solidFill>
                <a:latin typeface="Consolas"/>
              </a:rPr>
              <a:t>DNP3/TCP       </a:t>
            </a:r>
            <a:r>
              <a:rPr sz="900" b="0">
                <a:solidFill>
                  <a:srgbClr val="8FA1B8"/>
                </a:solidFill>
                <a:latin typeface="Segoe UI"/>
              </a:rPr>
              <a:t>20000 — the master usually opens the socket</a:t>
            </a:r>
          </a:p>
          <a:p>
            <a:pPr>
              <a:lnSpc>
                <a:spcPts val="1250"/>
              </a:lnSpc>
              <a:spcAft>
                <a:spcPts val="0"/>
              </a:spcAft>
            </a:pPr>
            <a:r>
              <a:rPr sz="950" b="1">
                <a:solidFill>
                  <a:srgbClr val="E6EDF3"/>
                </a:solidFill>
                <a:latin typeface="Consolas"/>
              </a:rPr>
              <a:t>DNP3/UDP       </a:t>
            </a:r>
            <a:r>
              <a:rPr sz="900" b="0">
                <a:solidFill>
                  <a:srgbClr val="8FA1B8"/>
                </a:solidFill>
                <a:latin typeface="Segoe UI"/>
              </a:rPr>
              <a:t>20000 — rare, and broadcast-capable</a:t>
            </a:r>
          </a:p>
          <a:p>
            <a:pPr>
              <a:lnSpc>
                <a:spcPts val="1250"/>
              </a:lnSpc>
              <a:spcAft>
                <a:spcPts val="0"/>
              </a:spcAft>
            </a:pPr>
            <a:r>
              <a:rPr sz="950" b="1">
                <a:solidFill>
                  <a:srgbClr val="E6EDF3"/>
                </a:solidFill>
                <a:latin typeface="Consolas"/>
              </a:rPr>
              <a:t>DNP3 serial    </a:t>
            </a:r>
            <a:r>
              <a:rPr sz="900" b="0">
                <a:solidFill>
                  <a:srgbClr val="8FA1B8"/>
                </a:solidFill>
                <a:latin typeface="Segoe UI"/>
              </a:rPr>
              <a:t>RS-232/485 — same three sublayers, no IP</a:t>
            </a:r>
          </a:p>
          <a:p>
            <a:pPr>
              <a:lnSpc>
                <a:spcPts val="1250"/>
              </a:lnSpc>
              <a:spcAft>
                <a:spcPts val="0"/>
              </a:spcAft>
            </a:pPr>
            <a:r>
              <a:rPr sz="950" b="1">
                <a:solidFill>
                  <a:srgbClr val="FF8A3D"/>
                </a:solidFill>
                <a:latin typeface="Consolas"/>
              </a:rPr>
              <a:t>Serial-over-TCP</a:t>
            </a:r>
            <a:r>
              <a:rPr sz="900" b="0">
                <a:solidFill>
                  <a:srgbClr val="8FA1B8"/>
                </a:solidFill>
                <a:latin typeface="Segoe UI"/>
              </a:rPr>
              <a:t>  terminal server — </a:t>
            </a:r>
            <a:r>
              <a:rPr sz="900" b="1">
                <a:solidFill>
                  <a:srgbClr val="FF4D5E"/>
                </a:solidFill>
                <a:latin typeface="Segoe UI"/>
              </a:rPr>
              <a:t>no standard port</a:t>
            </a:r>
          </a:p>
          <a:p>
            <a:pPr>
              <a:lnSpc>
                <a:spcPts val="1250"/>
              </a:lnSpc>
              <a:spcAft>
                <a:spcPts val="0"/>
              </a:spcAft>
            </a:pPr>
            <a:r>
              <a:rPr sz="950" b="1">
                <a:solidFill>
                  <a:srgbClr val="3DDC97"/>
                </a:solidFill>
                <a:latin typeface="Consolas"/>
              </a:rPr>
              <a:t>DNP3-SAv5      </a:t>
            </a:r>
            <a:r>
              <a:rPr sz="900" b="0">
                <a:solidFill>
                  <a:srgbClr val="8FA1B8"/>
                </a:solidFill>
                <a:latin typeface="Segoe UI"/>
              </a:rPr>
              <a:t>IEEE 1815-2012 auth — </a:t>
            </a:r>
            <a:r>
              <a:rPr sz="900" b="1">
                <a:solidFill>
                  <a:srgbClr val="FF8A3D"/>
                </a:solidFill>
                <a:latin typeface="Segoe UI"/>
              </a:rPr>
              <a:t>no confidentiality</a:t>
            </a:r>
          </a:p>
        </p:txBody>
      </p:sp>
      <p:sp>
        <p:nvSpPr>
          <p:cNvPr id="15" name="Rectangle 14"/>
          <p:cNvSpPr/>
          <p:nvPr/>
        </p:nvSpPr>
        <p:spPr>
          <a:xfrm>
            <a:off x="612648" y="4005072"/>
            <a:ext cx="4489704" cy="18288"/>
          </a:xfrm>
          <a:prstGeom prst="rect">
            <a:avLst/>
          </a:prstGeom>
          <a:solidFill>
            <a:srgbClr val="2A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12648" y="4133087"/>
            <a:ext cx="4489704" cy="822960"/>
          </a:xfrm>
          <a:prstGeom prst="rect">
            <a:avLst/>
          </a:prstGeom>
          <a:noFill/>
        </p:spPr>
        <p:txBody>
          <a:bodyPr wrap="square" lIns="0" rIns="0" tIns="0" bIns="0">
            <a:spAutoFit/>
          </a:bodyPr>
          <a:lstStyle/>
          <a:p>
            <a:pPr>
              <a:lnSpc>
                <a:spcPts val="1250"/>
              </a:lnSpc>
              <a:spcAft>
                <a:spcPts val="0"/>
              </a:spcAft>
            </a:pPr>
            <a:r>
              <a:rPr sz="1000" b="1">
                <a:solidFill>
                  <a:srgbClr val="FFB020"/>
                </a:solidFill>
                <a:latin typeface="Segoe UI"/>
              </a:rPr>
              <a:t>PORTS</a:t>
            </a:r>
          </a:p>
          <a:p>
            <a:pPr>
              <a:lnSpc>
                <a:spcPts val="1250"/>
              </a:lnSpc>
              <a:spcAft>
                <a:spcPts val="0"/>
              </a:spcAft>
            </a:pPr>
            <a:r>
              <a:rPr sz="950" b="1">
                <a:solidFill>
                  <a:srgbClr val="22D3EE"/>
                </a:solidFill>
                <a:latin typeface="Consolas"/>
              </a:rPr>
              <a:t>20000/tcp    </a:t>
            </a:r>
            <a:r>
              <a:rPr sz="900" b="0">
                <a:solidFill>
                  <a:srgbClr val="E6EDF3"/>
                </a:solidFill>
                <a:latin typeface="Segoe UI"/>
              </a:rPr>
              <a:t>DNP3  </a:t>
            </a:r>
            <a:r>
              <a:rPr sz="900" b="1">
                <a:solidFill>
                  <a:srgbClr val="FF4D5E"/>
                </a:solidFill>
                <a:latin typeface="Segoe UI"/>
              </a:rPr>
              <a:t>← Shodan port:20000</a:t>
            </a:r>
          </a:p>
          <a:p>
            <a:pPr>
              <a:lnSpc>
                <a:spcPts val="1250"/>
              </a:lnSpc>
              <a:spcAft>
                <a:spcPts val="0"/>
              </a:spcAft>
            </a:pPr>
            <a:r>
              <a:rPr sz="950" b="1">
                <a:solidFill>
                  <a:srgbClr val="22D3EE"/>
                </a:solidFill>
                <a:latin typeface="Consolas"/>
              </a:rPr>
              <a:t>20000/udp    </a:t>
            </a:r>
            <a:r>
              <a:rPr sz="900" b="0">
                <a:solidFill>
                  <a:srgbClr val="E6EDF3"/>
                </a:solidFill>
                <a:latin typeface="Segoe UI"/>
              </a:rPr>
              <a:t>DNP3 over UDP, broadcast</a:t>
            </a:r>
          </a:p>
          <a:p>
            <a:pPr>
              <a:lnSpc>
                <a:spcPts val="1250"/>
              </a:lnSpc>
              <a:spcAft>
                <a:spcPts val="0"/>
              </a:spcAft>
            </a:pPr>
            <a:r>
              <a:rPr sz="950" b="1">
                <a:solidFill>
                  <a:srgbClr val="22D3EE"/>
                </a:solidFill>
                <a:latin typeface="Consolas"/>
              </a:rPr>
              <a:t>19999/tcp    </a:t>
            </a:r>
            <a:r>
              <a:rPr sz="900" b="0">
                <a:solidFill>
                  <a:srgbClr val="E6EDF3"/>
                </a:solidFill>
                <a:latin typeface="Segoe UI"/>
              </a:rPr>
              <a:t>dnp-sec / DNP3 over TLS — near-absent</a:t>
            </a:r>
          </a:p>
          <a:p>
            <a:pPr>
              <a:lnSpc>
                <a:spcPts val="1250"/>
              </a:lnSpc>
              <a:spcAft>
                <a:spcPts val="0"/>
              </a:spcAft>
            </a:pPr>
            <a:r>
              <a:rPr sz="950" b="1">
                <a:solidFill>
                  <a:srgbClr val="FF8A3D"/>
                </a:solidFill>
                <a:latin typeface="Consolas"/>
              </a:rPr>
              <a:t>no std port  </a:t>
            </a:r>
            <a:r>
              <a:rPr sz="900" b="0">
                <a:solidFill>
                  <a:srgbClr val="E6EDF3"/>
                </a:solidFill>
                <a:latin typeface="Segoe UI"/>
              </a:rPr>
              <a:t>serial tunnel, cellular router, gateway</a:t>
            </a:r>
          </a:p>
        </p:txBody>
      </p:sp>
      <p:sp>
        <p:nvSpPr>
          <p:cNvPr id="17" name="TextBox 16"/>
          <p:cNvSpPr txBox="1"/>
          <p:nvPr/>
        </p:nvSpPr>
        <p:spPr>
          <a:xfrm>
            <a:off x="612648" y="5010912"/>
            <a:ext cx="4489704" cy="365760"/>
          </a:xfrm>
          <a:prstGeom prst="rect">
            <a:avLst/>
          </a:prstGeom>
          <a:noFill/>
        </p:spPr>
        <p:txBody>
          <a:bodyPr wrap="square" lIns="0" rIns="0" tIns="0" bIns="0">
            <a:spAutoFit/>
          </a:bodyPr>
          <a:lstStyle/>
          <a:p>
            <a:pPr>
              <a:lnSpc>
                <a:spcPts val="1019"/>
              </a:lnSpc>
              <a:spcAft>
                <a:spcPts val="0"/>
              </a:spcAft>
            </a:pPr>
            <a:r>
              <a:rPr sz="850" b="0">
                <a:solidFill>
                  <a:srgbClr val="8FA1B8"/>
                </a:solidFill>
                <a:latin typeface="Segoe UI"/>
              </a:rPr>
              <a:t>Master ↔ outstation. Control centre and SCADA front-end processor talking to RTUs, IEDs, protection relays, reclosers, pump stations.</a:t>
            </a:r>
          </a:p>
        </p:txBody>
      </p:sp>
      <p:sp>
        <p:nvSpPr>
          <p:cNvPr id="18" name="Rectangle 17"/>
          <p:cNvSpPr/>
          <p:nvPr/>
        </p:nvSpPr>
        <p:spPr>
          <a:xfrm>
            <a:off x="612648" y="5413248"/>
            <a:ext cx="4489704" cy="640080"/>
          </a:xfrm>
          <a:prstGeom prst="rect">
            <a:avLst/>
          </a:prstGeom>
          <a:solidFill>
            <a:srgbClr val="19202C"/>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0664" y="5477256"/>
            <a:ext cx="4233672" cy="512063"/>
          </a:xfrm>
          <a:prstGeom prst="rect">
            <a:avLst/>
          </a:prstGeom>
          <a:noFill/>
        </p:spPr>
        <p:txBody>
          <a:bodyPr wrap="square" lIns="0" rIns="0" tIns="0" bIns="0">
            <a:spAutoFit/>
          </a:bodyPr>
          <a:lstStyle/>
          <a:p>
            <a:pPr>
              <a:lnSpc>
                <a:spcPts val="1150"/>
              </a:lnSpc>
            </a:pPr>
            <a:r>
              <a:rPr sz="950" b="1">
                <a:solidFill>
                  <a:srgbClr val="FF8A3D"/>
                </a:solidFill>
                <a:latin typeface="Segoe UI"/>
              </a:rPr>
              <a:t>THE LONG-HAUL LINK IS THE SOFT EDGE</a:t>
            </a:r>
          </a:p>
          <a:p>
            <a:pPr>
              <a:lnSpc>
                <a:spcPts val="1019"/>
              </a:lnSpc>
            </a:pPr>
            <a:r>
              <a:rPr sz="850" b="0">
                <a:solidFill>
                  <a:srgbClr val="E6EDF3"/>
                </a:solidFill>
                <a:latin typeface="Segoe UI"/>
              </a:rPr>
              <a:t>Leased line, licensed radio, cellular, microwave. DNP3 legitimately crosses infrastructure you do not own, to sites nobody visits for months. Every one of those paths is an injection point that never touches your fence.</a:t>
            </a:r>
          </a:p>
        </p:txBody>
      </p:sp>
      <p:sp>
        <p:nvSpPr>
          <p:cNvPr id="20" name="Rectangle 19"/>
          <p:cNvSpPr/>
          <p:nvPr/>
        </p:nvSpPr>
        <p:spPr>
          <a:xfrm>
            <a:off x="5486400" y="2487168"/>
            <a:ext cx="4892040" cy="3584448"/>
          </a:xfrm>
          <a:prstGeom prst="rect">
            <a:avLst/>
          </a:prstGeom>
          <a:solidFill>
            <a:srgbClr val="131822"/>
          </a:solidFill>
          <a:ln w="12700">
            <a:solidFill>
              <a:srgbClr val="2A33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486400" y="2487168"/>
            <a:ext cx="4892040" cy="365760"/>
          </a:xfrm>
          <a:prstGeom prst="rect">
            <a:avLst/>
          </a:prstGeom>
          <a:solidFill>
            <a:srgbClr val="B3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486400" y="2487168"/>
            <a:ext cx="54864" cy="3584448"/>
          </a:xfrm>
          <a:prstGeom prst="rect">
            <a:avLst/>
          </a:prstGeom>
          <a:solidFill>
            <a:srgbClr val="B3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641848" y="2532888"/>
            <a:ext cx="4581144" cy="274320"/>
          </a:xfrm>
          <a:prstGeom prst="rect">
            <a:avLst/>
          </a:prstGeom>
          <a:noFill/>
        </p:spPr>
        <p:txBody>
          <a:bodyPr wrap="square" lIns="0" rIns="0" tIns="0" bIns="0">
            <a:spAutoFit/>
          </a:bodyPr>
          <a:lstStyle/>
          <a:p>
            <a:r>
              <a:rPr sz="1350" b="1">
                <a:solidFill>
                  <a:srgbClr val="0B0E14"/>
                </a:solidFill>
                <a:latin typeface="Segoe UI"/>
              </a:rPr>
              <a:t>2  </a:t>
            </a:r>
            <a:r>
              <a:rPr sz="1350" b="1">
                <a:solidFill>
                  <a:srgbClr val="0B0E14"/>
                </a:solidFill>
                <a:latin typeface="Segoe UI"/>
              </a:rPr>
              <a:t>THE OBJECT LIBRARY</a:t>
            </a:r>
          </a:p>
        </p:txBody>
      </p:sp>
      <p:sp>
        <p:nvSpPr>
          <p:cNvPr id="24" name="TextBox 23"/>
          <p:cNvSpPr txBox="1"/>
          <p:nvPr/>
        </p:nvSpPr>
        <p:spPr>
          <a:xfrm>
            <a:off x="5687568" y="2962656"/>
            <a:ext cx="4489704" cy="1783080"/>
          </a:xfrm>
          <a:prstGeom prst="rect">
            <a:avLst/>
          </a:prstGeom>
          <a:noFill/>
        </p:spPr>
        <p:txBody>
          <a:bodyPr wrap="square" lIns="0" rIns="0" tIns="0" bIns="0">
            <a:spAutoFit/>
          </a:bodyPr>
          <a:lstStyle/>
          <a:p>
            <a:pPr>
              <a:lnSpc>
                <a:spcPts val="990"/>
              </a:lnSpc>
              <a:spcAft>
                <a:spcPts val="0"/>
              </a:spcAft>
            </a:pPr>
            <a:r>
              <a:rPr sz="800" b="1">
                <a:solidFill>
                  <a:srgbClr val="8FA1B8"/>
                </a:solidFill>
                <a:latin typeface="Consolas"/>
              </a:rPr>
              <a:t>GROUP   VAR    OBJECT                    ACC  WHAT IT IS</a:t>
            </a:r>
          </a:p>
          <a:p>
            <a:pPr>
              <a:lnSpc>
                <a:spcPts val="990"/>
              </a:lnSpc>
              <a:spcAft>
                <a:spcPts val="0"/>
              </a:spcAft>
            </a:pPr>
            <a:r>
              <a:rPr sz="800" b="1">
                <a:solidFill>
                  <a:srgbClr val="E6EDF3"/>
                </a:solidFill>
                <a:latin typeface="Consolas"/>
              </a:rPr>
              <a:t>1 / 2   </a:t>
            </a:r>
            <a:r>
              <a:rPr sz="800" b="0">
                <a:solidFill>
                  <a:srgbClr val="22D3EE"/>
                </a:solidFill>
                <a:latin typeface="Consolas"/>
              </a:rPr>
              <a:t>1-3    </a:t>
            </a:r>
            <a:r>
              <a:rPr sz="800" b="1">
                <a:solidFill>
                  <a:srgbClr val="E6EDF3"/>
                </a:solidFill>
                <a:latin typeface="Consolas"/>
              </a:rPr>
              <a:t>Binary Input / Event      </a:t>
            </a:r>
            <a:r>
              <a:rPr sz="800" b="1">
                <a:solidFill>
                  <a:srgbClr val="8FA1B8"/>
                </a:solidFill>
                <a:latin typeface="Consolas"/>
              </a:rPr>
              <a:t>R    </a:t>
            </a:r>
            <a:r>
              <a:rPr sz="800" b="0">
                <a:solidFill>
                  <a:srgbClr val="8FA1B8"/>
                </a:solidFill>
                <a:latin typeface="Consolas"/>
              </a:rPr>
              <a:t>breaker OPEN|CLOSED, alarms</a:t>
            </a:r>
          </a:p>
          <a:p>
            <a:pPr>
              <a:lnSpc>
                <a:spcPts val="990"/>
              </a:lnSpc>
              <a:spcAft>
                <a:spcPts val="0"/>
              </a:spcAft>
            </a:pPr>
            <a:r>
              <a:rPr sz="800" b="1">
                <a:solidFill>
                  <a:srgbClr val="E6EDF3"/>
                </a:solidFill>
                <a:latin typeface="Consolas"/>
              </a:rPr>
              <a:t>10 / 11 </a:t>
            </a:r>
            <a:r>
              <a:rPr sz="800" b="0">
                <a:solidFill>
                  <a:srgbClr val="22D3EE"/>
                </a:solidFill>
                <a:latin typeface="Consolas"/>
              </a:rPr>
              <a:t>1,2    </a:t>
            </a:r>
            <a:r>
              <a:rPr sz="800" b="1">
                <a:solidFill>
                  <a:srgbClr val="E6EDF3"/>
                </a:solidFill>
                <a:latin typeface="Consolas"/>
              </a:rPr>
              <a:t>Binary Output Status / Ev </a:t>
            </a:r>
            <a:r>
              <a:rPr sz="800" b="1">
                <a:solidFill>
                  <a:srgbClr val="8FA1B8"/>
                </a:solidFill>
                <a:latin typeface="Consolas"/>
              </a:rPr>
              <a:t>R    </a:t>
            </a:r>
            <a:r>
              <a:rPr sz="800" b="0">
                <a:solidFill>
                  <a:srgbClr val="8FA1B8"/>
                </a:solidFill>
                <a:latin typeface="Consolas"/>
              </a:rPr>
              <a:t>output point as it stands</a:t>
            </a:r>
          </a:p>
          <a:p>
            <a:pPr>
              <a:lnSpc>
                <a:spcPts val="990"/>
              </a:lnSpc>
              <a:spcAft>
                <a:spcPts val="0"/>
              </a:spcAft>
            </a:pPr>
            <a:r>
              <a:rPr sz="800" b="1">
                <a:solidFill>
                  <a:srgbClr val="E6EDF3"/>
                </a:solidFill>
                <a:latin typeface="Consolas"/>
              </a:rPr>
              <a:t>12      </a:t>
            </a:r>
            <a:r>
              <a:rPr sz="800" b="0">
                <a:solidFill>
                  <a:srgbClr val="22D3EE"/>
                </a:solidFill>
                <a:latin typeface="Consolas"/>
              </a:rPr>
              <a:t>1      </a:t>
            </a:r>
            <a:r>
              <a:rPr sz="800" b="1">
                <a:solidFill>
                  <a:srgbClr val="E6EDF3"/>
                </a:solidFill>
                <a:latin typeface="Consolas"/>
              </a:rPr>
              <a:t>Control Relay Output Blk  </a:t>
            </a:r>
            <a:r>
              <a:rPr sz="800" b="1">
                <a:solidFill>
                  <a:srgbClr val="FF4D5E"/>
                </a:solidFill>
                <a:latin typeface="Consolas"/>
              </a:rPr>
              <a:t>W    </a:t>
            </a:r>
            <a:r>
              <a:rPr sz="800" b="0">
                <a:solidFill>
                  <a:srgbClr val="FF4D5E"/>
                </a:solidFill>
                <a:latin typeface="Consolas"/>
              </a:rPr>
              <a:t>THE BREAKER — the CROB</a:t>
            </a:r>
          </a:p>
          <a:p>
            <a:pPr>
              <a:lnSpc>
                <a:spcPts val="990"/>
              </a:lnSpc>
              <a:spcAft>
                <a:spcPts val="0"/>
              </a:spcAft>
            </a:pPr>
            <a:r>
              <a:rPr sz="800" b="1">
                <a:solidFill>
                  <a:srgbClr val="E6EDF3"/>
                </a:solidFill>
                <a:latin typeface="Consolas"/>
              </a:rPr>
              <a:t>20 / 22 </a:t>
            </a:r>
            <a:r>
              <a:rPr sz="800" b="0">
                <a:solidFill>
                  <a:srgbClr val="22D3EE"/>
                </a:solidFill>
                <a:latin typeface="Consolas"/>
              </a:rPr>
              <a:t>1-8    </a:t>
            </a:r>
            <a:r>
              <a:rPr sz="800" b="1">
                <a:solidFill>
                  <a:srgbClr val="E6EDF3"/>
                </a:solidFill>
                <a:latin typeface="Consolas"/>
              </a:rPr>
              <a:t>Counter / Event           </a:t>
            </a:r>
            <a:r>
              <a:rPr sz="800" b="1">
                <a:solidFill>
                  <a:srgbClr val="8FA1B8"/>
                </a:solidFill>
                <a:latin typeface="Consolas"/>
              </a:rPr>
              <a:t>R    </a:t>
            </a:r>
            <a:r>
              <a:rPr sz="800" b="0">
                <a:solidFill>
                  <a:srgbClr val="8FA1B8"/>
                </a:solidFill>
                <a:latin typeface="Consolas"/>
              </a:rPr>
              <a:t>metering, accumulators</a:t>
            </a:r>
          </a:p>
          <a:p>
            <a:pPr>
              <a:lnSpc>
                <a:spcPts val="990"/>
              </a:lnSpc>
              <a:spcAft>
                <a:spcPts val="0"/>
              </a:spcAft>
            </a:pPr>
            <a:r>
              <a:rPr sz="800" b="1">
                <a:solidFill>
                  <a:srgbClr val="E6EDF3"/>
                </a:solidFill>
                <a:latin typeface="Consolas"/>
              </a:rPr>
              <a:t>30 / 32 </a:t>
            </a:r>
            <a:r>
              <a:rPr sz="800" b="0">
                <a:solidFill>
                  <a:srgbClr val="22D3EE"/>
                </a:solidFill>
                <a:latin typeface="Consolas"/>
              </a:rPr>
              <a:t>1-8    </a:t>
            </a:r>
            <a:r>
              <a:rPr sz="800" b="1">
                <a:solidFill>
                  <a:srgbClr val="E6EDF3"/>
                </a:solidFill>
                <a:latin typeface="Consolas"/>
              </a:rPr>
              <a:t>Analog Input / Event      </a:t>
            </a:r>
            <a:r>
              <a:rPr sz="800" b="1">
                <a:solidFill>
                  <a:srgbClr val="8FA1B8"/>
                </a:solidFill>
                <a:latin typeface="Consolas"/>
              </a:rPr>
              <a:t>R    </a:t>
            </a:r>
            <a:r>
              <a:rPr sz="800" b="0">
                <a:solidFill>
                  <a:srgbClr val="8FA1B8"/>
                </a:solidFill>
                <a:latin typeface="Consolas"/>
              </a:rPr>
              <a:t>MW, kV, pressure, level</a:t>
            </a:r>
          </a:p>
          <a:p>
            <a:pPr>
              <a:lnSpc>
                <a:spcPts val="990"/>
              </a:lnSpc>
              <a:spcAft>
                <a:spcPts val="0"/>
              </a:spcAft>
            </a:pPr>
            <a:r>
              <a:rPr sz="800" b="1">
                <a:solidFill>
                  <a:srgbClr val="E6EDF3"/>
                </a:solidFill>
                <a:latin typeface="Consolas"/>
              </a:rPr>
              <a:t>40      </a:t>
            </a:r>
            <a:r>
              <a:rPr sz="800" b="0">
                <a:solidFill>
                  <a:srgbClr val="22D3EE"/>
                </a:solidFill>
                <a:latin typeface="Consolas"/>
              </a:rPr>
              <a:t>1-4    </a:t>
            </a:r>
            <a:r>
              <a:rPr sz="800" b="1">
                <a:solidFill>
                  <a:srgbClr val="E6EDF3"/>
                </a:solidFill>
                <a:latin typeface="Consolas"/>
              </a:rPr>
              <a:t>Analog Output Status      </a:t>
            </a:r>
            <a:r>
              <a:rPr sz="800" b="1">
                <a:solidFill>
                  <a:srgbClr val="8FA1B8"/>
                </a:solidFill>
                <a:latin typeface="Consolas"/>
              </a:rPr>
              <a:t>R    </a:t>
            </a:r>
            <a:r>
              <a:rPr sz="800" b="0">
                <a:solidFill>
                  <a:srgbClr val="8FA1B8"/>
                </a:solidFill>
                <a:latin typeface="Consolas"/>
              </a:rPr>
              <a:t>the setpoint as it stands</a:t>
            </a:r>
          </a:p>
          <a:p>
            <a:pPr>
              <a:lnSpc>
                <a:spcPts val="990"/>
              </a:lnSpc>
              <a:spcAft>
                <a:spcPts val="0"/>
              </a:spcAft>
            </a:pPr>
            <a:r>
              <a:rPr sz="800" b="1">
                <a:solidFill>
                  <a:srgbClr val="E6EDF3"/>
                </a:solidFill>
                <a:latin typeface="Consolas"/>
              </a:rPr>
              <a:t>41      </a:t>
            </a:r>
            <a:r>
              <a:rPr sz="800" b="0">
                <a:solidFill>
                  <a:srgbClr val="22D3EE"/>
                </a:solidFill>
                <a:latin typeface="Consolas"/>
              </a:rPr>
              <a:t>1-4    </a:t>
            </a:r>
            <a:r>
              <a:rPr sz="800" b="1">
                <a:solidFill>
                  <a:srgbClr val="E6EDF3"/>
                </a:solidFill>
                <a:latin typeface="Consolas"/>
              </a:rPr>
              <a:t>Analog Output Block       </a:t>
            </a:r>
            <a:r>
              <a:rPr sz="800" b="1">
                <a:solidFill>
                  <a:srgbClr val="FF8A3D"/>
                </a:solidFill>
                <a:latin typeface="Consolas"/>
              </a:rPr>
              <a:t>W    </a:t>
            </a:r>
            <a:r>
              <a:rPr sz="800" b="0">
                <a:solidFill>
                  <a:srgbClr val="FF8A3D"/>
                </a:solidFill>
                <a:latin typeface="Consolas"/>
              </a:rPr>
              <a:t>SETPOINT WRITE</a:t>
            </a:r>
          </a:p>
          <a:p>
            <a:pPr>
              <a:lnSpc>
                <a:spcPts val="990"/>
              </a:lnSpc>
              <a:spcAft>
                <a:spcPts val="0"/>
              </a:spcAft>
            </a:pPr>
            <a:r>
              <a:rPr sz="800" b="1">
                <a:solidFill>
                  <a:srgbClr val="E6EDF3"/>
                </a:solidFill>
                <a:latin typeface="Consolas"/>
              </a:rPr>
              <a:t>50      </a:t>
            </a:r>
            <a:r>
              <a:rPr sz="800" b="0">
                <a:solidFill>
                  <a:srgbClr val="22D3EE"/>
                </a:solidFill>
                <a:latin typeface="Consolas"/>
              </a:rPr>
              <a:t>1,3,4  </a:t>
            </a:r>
            <a:r>
              <a:rPr sz="800" b="1">
                <a:solidFill>
                  <a:srgbClr val="E6EDF3"/>
                </a:solidFill>
                <a:latin typeface="Consolas"/>
              </a:rPr>
              <a:t>Time and Date             </a:t>
            </a:r>
            <a:r>
              <a:rPr sz="800" b="1">
                <a:solidFill>
                  <a:srgbClr val="FF8A3D"/>
                </a:solidFill>
                <a:latin typeface="Consolas"/>
              </a:rPr>
              <a:t>W    </a:t>
            </a:r>
            <a:r>
              <a:rPr sz="800" b="0">
                <a:solidFill>
                  <a:srgbClr val="FF8A3D"/>
                </a:solidFill>
                <a:latin typeface="Consolas"/>
              </a:rPr>
              <a:t>time sync — and time skew</a:t>
            </a:r>
          </a:p>
          <a:p>
            <a:pPr>
              <a:lnSpc>
                <a:spcPts val="990"/>
              </a:lnSpc>
              <a:spcAft>
                <a:spcPts val="0"/>
              </a:spcAft>
            </a:pPr>
            <a:r>
              <a:rPr sz="800" b="1">
                <a:solidFill>
                  <a:srgbClr val="E6EDF3"/>
                </a:solidFill>
                <a:latin typeface="Consolas"/>
              </a:rPr>
              <a:t>60      </a:t>
            </a:r>
            <a:r>
              <a:rPr sz="800" b="0">
                <a:solidFill>
                  <a:srgbClr val="22D3EE"/>
                </a:solidFill>
                <a:latin typeface="Consolas"/>
              </a:rPr>
              <a:t>1-4    </a:t>
            </a:r>
            <a:r>
              <a:rPr sz="800" b="1">
                <a:solidFill>
                  <a:srgbClr val="E6EDF3"/>
                </a:solidFill>
                <a:latin typeface="Consolas"/>
              </a:rPr>
              <a:t>Class 0 / 1 / 2 / 3 data  </a:t>
            </a:r>
            <a:r>
              <a:rPr sz="800" b="1">
                <a:solidFill>
                  <a:srgbClr val="4DA3FF"/>
                </a:solidFill>
                <a:latin typeface="Consolas"/>
              </a:rPr>
              <a:t>R    </a:t>
            </a:r>
            <a:r>
              <a:rPr sz="800" b="0">
                <a:solidFill>
                  <a:srgbClr val="4DA3FF"/>
                </a:solidFill>
                <a:latin typeface="Consolas"/>
              </a:rPr>
              <a:t>the polling shorthand</a:t>
            </a:r>
          </a:p>
          <a:p>
            <a:pPr>
              <a:lnSpc>
                <a:spcPts val="990"/>
              </a:lnSpc>
              <a:spcAft>
                <a:spcPts val="0"/>
              </a:spcAft>
            </a:pPr>
            <a:r>
              <a:rPr sz="800" b="1">
                <a:solidFill>
                  <a:srgbClr val="E6EDF3"/>
                </a:solidFill>
                <a:latin typeface="Consolas"/>
              </a:rPr>
              <a:t>70      </a:t>
            </a:r>
            <a:r>
              <a:rPr sz="800" b="0">
                <a:solidFill>
                  <a:srgbClr val="22D3EE"/>
                </a:solidFill>
                <a:latin typeface="Consolas"/>
              </a:rPr>
              <a:t>2-7    </a:t>
            </a:r>
            <a:r>
              <a:rPr sz="800" b="1">
                <a:solidFill>
                  <a:srgbClr val="E6EDF3"/>
                </a:solidFill>
                <a:latin typeface="Consolas"/>
              </a:rPr>
              <a:t>File transfer             </a:t>
            </a:r>
            <a:r>
              <a:rPr sz="800" b="1">
                <a:solidFill>
                  <a:srgbClr val="FF4D5E"/>
                </a:solidFill>
                <a:latin typeface="Consolas"/>
              </a:rPr>
              <a:t>RW   </a:t>
            </a:r>
            <a:r>
              <a:rPr sz="800" b="0">
                <a:solidFill>
                  <a:srgbClr val="FF4D5E"/>
                </a:solidFill>
                <a:latin typeface="Consolas"/>
              </a:rPr>
              <a:t>config + firmware movement</a:t>
            </a:r>
          </a:p>
          <a:p>
            <a:pPr>
              <a:lnSpc>
                <a:spcPts val="990"/>
              </a:lnSpc>
              <a:spcAft>
                <a:spcPts val="0"/>
              </a:spcAft>
            </a:pPr>
            <a:r>
              <a:rPr sz="800" b="1">
                <a:solidFill>
                  <a:srgbClr val="E6EDF3"/>
                </a:solidFill>
                <a:latin typeface="Consolas"/>
              </a:rPr>
              <a:t>80      </a:t>
            </a:r>
            <a:r>
              <a:rPr sz="800" b="0">
                <a:solidFill>
                  <a:srgbClr val="22D3EE"/>
                </a:solidFill>
                <a:latin typeface="Consolas"/>
              </a:rPr>
              <a:t>1      </a:t>
            </a:r>
            <a:r>
              <a:rPr sz="800" b="1">
                <a:solidFill>
                  <a:srgbClr val="E6EDF3"/>
                </a:solidFill>
                <a:latin typeface="Consolas"/>
              </a:rPr>
              <a:t>Internal Indications      </a:t>
            </a:r>
            <a:r>
              <a:rPr sz="800" b="1">
                <a:solidFill>
                  <a:srgbClr val="FF8A3D"/>
                </a:solidFill>
                <a:latin typeface="Consolas"/>
              </a:rPr>
              <a:t>RW   </a:t>
            </a:r>
            <a:r>
              <a:rPr sz="800" b="0">
                <a:solidFill>
                  <a:srgbClr val="FF8A3D"/>
                </a:solidFill>
                <a:latin typeface="Consolas"/>
              </a:rPr>
              <a:t>the IIN, as a written object</a:t>
            </a:r>
          </a:p>
          <a:p>
            <a:pPr>
              <a:lnSpc>
                <a:spcPts val="990"/>
              </a:lnSpc>
              <a:spcAft>
                <a:spcPts val="0"/>
              </a:spcAft>
            </a:pPr>
            <a:r>
              <a:rPr sz="800" b="1">
                <a:solidFill>
                  <a:srgbClr val="E6EDF3"/>
                </a:solidFill>
                <a:latin typeface="Consolas"/>
              </a:rPr>
              <a:t>120     </a:t>
            </a:r>
            <a:r>
              <a:rPr sz="800" b="0">
                <a:solidFill>
                  <a:srgbClr val="22D3EE"/>
                </a:solidFill>
                <a:latin typeface="Consolas"/>
              </a:rPr>
              <a:t>1-9    </a:t>
            </a:r>
            <a:r>
              <a:rPr sz="800" b="1">
                <a:solidFill>
                  <a:srgbClr val="E6EDF3"/>
                </a:solidFill>
                <a:latin typeface="Consolas"/>
              </a:rPr>
              <a:t>Secure Authentication v5  </a:t>
            </a:r>
            <a:r>
              <a:rPr sz="800" b="1">
                <a:solidFill>
                  <a:srgbClr val="3DDC97"/>
                </a:solidFill>
                <a:latin typeface="Consolas"/>
              </a:rPr>
              <a:t>—    </a:t>
            </a:r>
            <a:r>
              <a:rPr sz="800" b="0">
                <a:solidFill>
                  <a:srgbClr val="3DDC97"/>
                </a:solidFill>
                <a:latin typeface="Consolas"/>
              </a:rPr>
              <a:t>challenge / response</a:t>
            </a:r>
          </a:p>
          <a:p>
            <a:pPr>
              <a:lnSpc>
                <a:spcPts val="990"/>
              </a:lnSpc>
              <a:spcAft>
                <a:spcPts val="0"/>
              </a:spcAft>
            </a:pPr>
            <a:r>
              <a:rPr sz="850" b="0">
                <a:solidFill>
                  <a:srgbClr val="8FA1B8"/>
                </a:solidFill>
                <a:latin typeface="Segoe UI"/>
              </a:rPr>
              <a:t>Every request is </a:t>
            </a:r>
            <a:r>
              <a:rPr sz="850" b="1">
                <a:solidFill>
                  <a:srgbClr val="FFB020"/>
                </a:solidFill>
                <a:latin typeface="Consolas"/>
              </a:rPr>
              <a:t>&lt;FC&gt;</a:t>
            </a:r>
            <a:r>
              <a:rPr sz="850" b="0">
                <a:solidFill>
                  <a:srgbClr val="8FA1B8"/>
                </a:solidFill>
                <a:latin typeface="Segoe UI"/>
              </a:rPr>
              <a:t> on </a:t>
            </a:r>
            <a:r>
              <a:rPr sz="850" b="1">
                <a:solidFill>
                  <a:srgbClr val="B388FF"/>
                </a:solidFill>
                <a:latin typeface="Consolas"/>
              </a:rPr>
              <a:t>&lt;GROUP&gt;.&lt;VARIATION&gt;</a:t>
            </a:r>
            <a:r>
              <a:rPr sz="850" b="0">
                <a:solidFill>
                  <a:srgbClr val="8FA1B8"/>
                </a:solidFill>
                <a:latin typeface="Segoe UI"/>
              </a:rPr>
              <a:t> over a </a:t>
            </a:r>
            <a:r>
              <a:rPr sz="850" b="1">
                <a:solidFill>
                  <a:srgbClr val="22D3EE"/>
                </a:solidFill>
                <a:latin typeface="Consolas"/>
              </a:rPr>
              <a:t>&lt;QUALIFIER&gt;:&lt;RANGE&gt;</a:t>
            </a:r>
            <a:r>
              <a:rPr sz="850" b="0">
                <a:solidFill>
                  <a:srgbClr val="8FA1B8"/>
                </a:solidFill>
                <a:latin typeface="Segoe UI"/>
              </a:rPr>
              <a:t>.</a:t>
            </a:r>
          </a:p>
        </p:txBody>
      </p:sp>
      <p:sp>
        <p:nvSpPr>
          <p:cNvPr id="25" name="Rectangle 24"/>
          <p:cNvSpPr/>
          <p:nvPr/>
        </p:nvSpPr>
        <p:spPr>
          <a:xfrm>
            <a:off x="5687568" y="4809744"/>
            <a:ext cx="4489704" cy="1225296"/>
          </a:xfrm>
          <a:prstGeom prst="rect">
            <a:avLst/>
          </a:prstGeom>
          <a:solidFill>
            <a:srgbClr val="19202C"/>
          </a:solidFill>
          <a:ln w="12700">
            <a:solidFill>
              <a:srgbClr val="FF4D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815583" y="4873752"/>
            <a:ext cx="4233672" cy="1097280"/>
          </a:xfrm>
          <a:prstGeom prst="rect">
            <a:avLst/>
          </a:prstGeom>
          <a:noFill/>
        </p:spPr>
        <p:txBody>
          <a:bodyPr wrap="square" lIns="0" rIns="0" tIns="0" bIns="0">
            <a:spAutoFit/>
          </a:bodyPr>
          <a:lstStyle/>
          <a:p>
            <a:pPr>
              <a:lnSpc>
                <a:spcPts val="1150"/>
              </a:lnSpc>
            </a:pPr>
            <a:r>
              <a:rPr sz="950" b="1">
                <a:solidFill>
                  <a:srgbClr val="FF4D5E"/>
                </a:solidFill>
                <a:latin typeface="Segoe UI"/>
              </a:rPr>
              <a:t>⚠  THE POINT INDEX IS NOT AN ADDRESS</a:t>
            </a:r>
          </a:p>
          <a:p>
            <a:pPr>
              <a:lnSpc>
                <a:spcPts val="1019"/>
              </a:lnSpc>
            </a:pPr>
            <a:r>
              <a:rPr sz="850" b="0">
                <a:solidFill>
                  <a:srgbClr val="E6EDF3"/>
                </a:solidFill>
                <a:latin typeface="Segoe UI"/>
              </a:rPr>
              <a:t>Group 12 index 7 is Feeder 4 only because the device profile says so. Indices are 0-based, per-group and vendor-assigned — two outstations from two vendors do not share a map, and the standard does not define one.</a:t>
            </a:r>
          </a:p>
          <a:p>
            <a:pPr>
              <a:lnSpc>
                <a:spcPts val="1019"/>
              </a:lnSpc>
            </a:pPr>
            <a:r>
              <a:rPr sz="850" b="1">
                <a:solidFill>
                  <a:srgbClr val="FF8A3D"/>
                </a:solidFill>
                <a:latin typeface="Segoe UI"/>
              </a:rPr>
              <a:t>A capture alone tells you a breaker moved. It never tells you which breaker.</a:t>
            </a:r>
          </a:p>
          <a:p>
            <a:pPr>
              <a:lnSpc>
                <a:spcPts val="1019"/>
              </a:lnSpc>
            </a:pPr>
            <a:r>
              <a:rPr sz="850" b="1">
                <a:solidFill>
                  <a:srgbClr val="FF4D5E"/>
                </a:solidFill>
                <a:latin typeface="Segoe UI"/>
              </a:rPr>
              <a:t>Pull the point list with the PCAP or the evidence is half-blind.</a:t>
            </a:r>
          </a:p>
        </p:txBody>
      </p:sp>
      <p:sp>
        <p:nvSpPr>
          <p:cNvPr id="27" name="Rectangle 26"/>
          <p:cNvSpPr/>
          <p:nvPr/>
        </p:nvSpPr>
        <p:spPr>
          <a:xfrm>
            <a:off x="10561320" y="2487168"/>
            <a:ext cx="5486400" cy="3584448"/>
          </a:xfrm>
          <a:prstGeom prst="rect">
            <a:avLst/>
          </a:prstGeom>
          <a:solidFill>
            <a:srgbClr val="131822"/>
          </a:solidFill>
          <a:ln w="12700">
            <a:solidFill>
              <a:srgbClr val="2A33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10561320" y="2487168"/>
            <a:ext cx="5486400" cy="36576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10561320" y="2487168"/>
            <a:ext cx="54864" cy="35844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716768" y="2532888"/>
            <a:ext cx="5175504" cy="274320"/>
          </a:xfrm>
          <a:prstGeom prst="rect">
            <a:avLst/>
          </a:prstGeom>
          <a:noFill/>
        </p:spPr>
        <p:txBody>
          <a:bodyPr wrap="square" lIns="0" rIns="0" tIns="0" bIns="0">
            <a:spAutoFit/>
          </a:bodyPr>
          <a:lstStyle/>
          <a:p>
            <a:r>
              <a:rPr sz="1350" b="1">
                <a:solidFill>
                  <a:srgbClr val="0B0E14"/>
                </a:solidFill>
                <a:latin typeface="Segoe UI"/>
              </a:rPr>
              <a:t>3  </a:t>
            </a:r>
            <a:r>
              <a:rPr sz="1350" b="1">
                <a:solidFill>
                  <a:srgbClr val="0B0E14"/>
                </a:solidFill>
                <a:latin typeface="Segoe UI"/>
              </a:rPr>
              <a:t>FRAME ANATOMY</a:t>
            </a:r>
          </a:p>
        </p:txBody>
      </p:sp>
      <p:sp>
        <p:nvSpPr>
          <p:cNvPr id="31" name="TextBox 30"/>
          <p:cNvSpPr txBox="1"/>
          <p:nvPr/>
        </p:nvSpPr>
        <p:spPr>
          <a:xfrm>
            <a:off x="10762488" y="2962656"/>
            <a:ext cx="5084064" cy="1188720"/>
          </a:xfrm>
          <a:prstGeom prst="rect">
            <a:avLst/>
          </a:prstGeom>
          <a:noFill/>
        </p:spPr>
        <p:txBody>
          <a:bodyPr wrap="square" lIns="0" rIns="0" tIns="0" bIns="0">
            <a:spAutoFit/>
          </a:bodyPr>
          <a:lstStyle/>
          <a:p>
            <a:pPr>
              <a:lnSpc>
                <a:spcPts val="1080"/>
              </a:lnSpc>
              <a:spcAft>
                <a:spcPts val="0"/>
              </a:spcAft>
            </a:pPr>
            <a:r>
              <a:rPr sz="950" b="1">
                <a:solidFill>
                  <a:srgbClr val="FFB020"/>
                </a:solidFill>
                <a:latin typeface="Segoe UI"/>
              </a:rPr>
              <a:t>DNP3 LINK FRAME — three sublayers in every packet</a:t>
            </a:r>
          </a:p>
          <a:p>
            <a:pPr>
              <a:lnSpc>
                <a:spcPts val="1080"/>
              </a:lnSpc>
              <a:spcAft>
                <a:spcPts val="0"/>
              </a:spcAft>
            </a:pPr>
            <a:r>
              <a:rPr sz="850" b="0">
                <a:solidFill>
                  <a:srgbClr val="64748B"/>
                </a:solidFill>
                <a:latin typeface="Consolas"/>
              </a:rPr>
              <a:t>┌───────┬──────┬──────┬──────────┬──────────┬───────┐</a:t>
            </a:r>
          </a:p>
          <a:p>
            <a:pPr>
              <a:lnSpc>
                <a:spcPts val="1080"/>
              </a:lnSpc>
              <a:spcAft>
                <a:spcPts val="0"/>
              </a:spcAft>
            </a:pPr>
            <a:r>
              <a:rPr sz="850" b="0">
                <a:solidFill>
                  <a:srgbClr val="64748B"/>
                </a:solidFill>
                <a:latin typeface="Consolas"/>
              </a:rPr>
              <a:t>│ </a:t>
            </a:r>
            <a:r>
              <a:rPr sz="850" b="1">
                <a:solidFill>
                  <a:srgbClr val="FFB020"/>
                </a:solidFill>
                <a:latin typeface="Consolas"/>
              </a:rPr>
              <a:t>05 64</a:t>
            </a:r>
            <a:r>
              <a:rPr sz="850" b="0">
                <a:solidFill>
                  <a:srgbClr val="8FA1B8"/>
                </a:solidFill>
                <a:latin typeface="Consolas"/>
              </a:rPr>
              <a:t> │ LEN  │ CTRL │   DEST   │   SRC    │  CRC  │</a:t>
            </a:r>
          </a:p>
          <a:p>
            <a:pPr>
              <a:lnSpc>
                <a:spcPts val="1080"/>
              </a:lnSpc>
              <a:spcAft>
                <a:spcPts val="0"/>
              </a:spcAft>
            </a:pPr>
            <a:r>
              <a:rPr sz="850" b="0">
                <a:solidFill>
                  <a:srgbClr val="8FA1B8"/>
                </a:solidFill>
                <a:latin typeface="Consolas"/>
              </a:rPr>
              <a:t>│  2 B  │ 1 B  │ 1 B  │  2 B LE  │  2 B LE  │  2 B  │</a:t>
            </a:r>
          </a:p>
          <a:p>
            <a:pPr>
              <a:lnSpc>
                <a:spcPts val="1080"/>
              </a:lnSpc>
              <a:spcAft>
                <a:spcPts val="0"/>
              </a:spcAft>
            </a:pPr>
            <a:r>
              <a:rPr sz="850" b="0">
                <a:solidFill>
                  <a:srgbClr val="64748B"/>
                </a:solidFill>
                <a:latin typeface="Consolas"/>
              </a:rPr>
              <a:t>└───────┴──────┴──────┴──────────┴──────────┴───────┘</a:t>
            </a:r>
          </a:p>
          <a:p>
            <a:pPr>
              <a:lnSpc>
                <a:spcPts val="1080"/>
              </a:lnSpc>
              <a:spcAft>
                <a:spcPts val="0"/>
              </a:spcAft>
            </a:pPr>
            <a:r>
              <a:rPr sz="850" b="0">
                <a:solidFill>
                  <a:srgbClr val="8FA1B8"/>
                </a:solidFill>
                <a:latin typeface="Consolas"/>
              </a:rPr>
              <a:t>        user data → 16-byte blocks, each + 2 B CRC   </a:t>
            </a:r>
            <a:r>
              <a:rPr sz="850" b="1">
                <a:solidFill>
                  <a:srgbClr val="22D3EE"/>
                </a:solidFill>
                <a:latin typeface="Consolas"/>
              </a:rPr>
              <a:t>poly 0x3D65</a:t>
            </a:r>
          </a:p>
          <a:p>
            <a:pPr>
              <a:lnSpc>
                <a:spcPts val="1080"/>
              </a:lnSpc>
              <a:spcAft>
                <a:spcPts val="0"/>
              </a:spcAft>
            </a:pPr>
            <a:r>
              <a:rPr sz="850" b="1">
                <a:solidFill>
                  <a:srgbClr val="22D3EE"/>
                </a:solidFill>
                <a:latin typeface="Consolas"/>
              </a:rPr>
              <a:t>── TRANSPORT ── 1 B ── FIR │ FIN │ SEQ 6 bits</a:t>
            </a:r>
          </a:p>
          <a:p>
            <a:pPr>
              <a:lnSpc>
                <a:spcPts val="1080"/>
              </a:lnSpc>
              <a:spcAft>
                <a:spcPts val="0"/>
              </a:spcAft>
            </a:pPr>
            <a:r>
              <a:rPr sz="850" b="1">
                <a:solidFill>
                  <a:srgbClr val="22D3EE"/>
                </a:solidFill>
                <a:latin typeface="Consolas"/>
              </a:rPr>
              <a:t>── APPLICATION ── AC 1 B │ FC 1 B │ objects …  </a:t>
            </a:r>
            <a:r>
              <a:rPr sz="850" b="1">
                <a:solidFill>
                  <a:srgbClr val="3DDC97"/>
                </a:solidFill>
                <a:latin typeface="Consolas"/>
              </a:rPr>
              <a:t>+ IIN 2 B on 129/130</a:t>
            </a:r>
          </a:p>
        </p:txBody>
      </p:sp>
      <p:sp>
        <p:nvSpPr>
          <p:cNvPr id="32" name="TextBox 31"/>
          <p:cNvSpPr txBox="1"/>
          <p:nvPr/>
        </p:nvSpPr>
        <p:spPr>
          <a:xfrm>
            <a:off x="10762488" y="4224528"/>
            <a:ext cx="5084064" cy="1143000"/>
          </a:xfrm>
          <a:prstGeom prst="rect">
            <a:avLst/>
          </a:prstGeom>
          <a:noFill/>
        </p:spPr>
        <p:txBody>
          <a:bodyPr wrap="square" lIns="0" rIns="0" tIns="0" bIns="0">
            <a:spAutoFit/>
          </a:bodyPr>
          <a:lstStyle/>
          <a:p>
            <a:pPr>
              <a:lnSpc>
                <a:spcPts val="1100"/>
              </a:lnSpc>
              <a:spcAft>
                <a:spcPts val="0"/>
              </a:spcAft>
            </a:pPr>
            <a:r>
              <a:rPr sz="850" b="1">
                <a:solidFill>
                  <a:srgbClr val="FFB020"/>
                </a:solidFill>
                <a:latin typeface="Consolas"/>
              </a:rPr>
              <a:t>05 64  </a:t>
            </a:r>
            <a:r>
              <a:rPr sz="850" b="0">
                <a:solidFill>
                  <a:srgbClr val="E6EDF3"/>
                </a:solidFill>
                <a:latin typeface="Segoe UI"/>
              </a:rPr>
              <a:t>starts every frame. Off-port, a chance 0x0564 that fails CRC is </a:t>
            </a:r>
            <a:r>
              <a:rPr sz="850" b="1">
                <a:solidFill>
                  <a:srgbClr val="3DDC97"/>
                </a:solidFill>
                <a:latin typeface="Segoe UI"/>
              </a:rPr>
              <a:t>not DNP3</a:t>
            </a:r>
            <a:r>
              <a:rPr sz="850" b="0">
                <a:solidFill>
                  <a:srgbClr val="E6EDF3"/>
                </a:solidFill>
                <a:latin typeface="Segoe UI"/>
              </a:rPr>
              <a:t>.</a:t>
            </a:r>
          </a:p>
          <a:p>
            <a:pPr>
              <a:lnSpc>
                <a:spcPts val="1100"/>
              </a:lnSpc>
              <a:spcAft>
                <a:spcPts val="0"/>
              </a:spcAft>
            </a:pPr>
            <a:r>
              <a:rPr sz="850" b="1">
                <a:solidFill>
                  <a:srgbClr val="E6EDF3"/>
                </a:solidFill>
                <a:latin typeface="Consolas"/>
              </a:rPr>
              <a:t>LEN    </a:t>
            </a:r>
            <a:r>
              <a:rPr sz="850" b="0">
                <a:solidFill>
                  <a:srgbClr val="8FA1B8"/>
                </a:solidFill>
                <a:latin typeface="Segoe UI"/>
              </a:rPr>
              <a:t>counts CTRL → end of user data, excludes the CRCs. Max 255.</a:t>
            </a:r>
          </a:p>
          <a:p>
            <a:pPr>
              <a:lnSpc>
                <a:spcPts val="1100"/>
              </a:lnSpc>
              <a:spcAft>
                <a:spcPts val="0"/>
              </a:spcAft>
            </a:pPr>
            <a:r>
              <a:rPr sz="850" b="1">
                <a:solidFill>
                  <a:srgbClr val="E6EDF3"/>
                </a:solidFill>
                <a:latin typeface="Consolas"/>
              </a:rPr>
              <a:t>CTRL   </a:t>
            </a:r>
            <a:r>
              <a:rPr sz="850" b="0">
                <a:solidFill>
                  <a:srgbClr val="8FA1B8"/>
                </a:solidFill>
                <a:latin typeface="Segoe UI"/>
              </a:rPr>
              <a:t>carries DIR, PRM, FCB/FCV and the data-link function code.</a:t>
            </a:r>
          </a:p>
          <a:p>
            <a:pPr>
              <a:lnSpc>
                <a:spcPts val="1100"/>
              </a:lnSpc>
              <a:spcAft>
                <a:spcPts val="0"/>
              </a:spcAft>
            </a:pPr>
            <a:r>
              <a:rPr sz="850" b="1">
                <a:solidFill>
                  <a:srgbClr val="E6EDF3"/>
                </a:solidFill>
                <a:latin typeface="Consolas"/>
              </a:rPr>
              <a:t>DEST   </a:t>
            </a:r>
            <a:r>
              <a:rPr sz="850" b="0">
                <a:solidFill>
                  <a:srgbClr val="8FA1B8"/>
                </a:solidFill>
                <a:latin typeface="Segoe UI"/>
              </a:rPr>
              <a:t>/ </a:t>
            </a:r>
            <a:r>
              <a:rPr sz="850" b="1">
                <a:solidFill>
                  <a:srgbClr val="E6EDF3"/>
                </a:solidFill>
                <a:latin typeface="Consolas"/>
              </a:rPr>
              <a:t>SRC </a:t>
            </a:r>
            <a:r>
              <a:rPr sz="850" b="0">
                <a:solidFill>
                  <a:srgbClr val="8FA1B8"/>
                </a:solidFill>
                <a:latin typeface="Segoe UI"/>
              </a:rPr>
              <a:t>are DNP3 link addresses — </a:t>
            </a:r>
            <a:r>
              <a:rPr sz="850" b="1">
                <a:solidFill>
                  <a:srgbClr val="FF4D5E"/>
                </a:solidFill>
                <a:latin typeface="Segoe UI"/>
              </a:rPr>
              <a:t>not the IP</a:t>
            </a:r>
            <a:r>
              <a:rPr sz="850" b="1">
                <a:solidFill>
                  <a:srgbClr val="FF8A3D"/>
                </a:solidFill>
                <a:latin typeface="Segoe UI"/>
              </a:rPr>
              <a:t>.  0xFFFD–0xFFFF broadcast</a:t>
            </a:r>
          </a:p>
          <a:p>
            <a:pPr>
              <a:lnSpc>
                <a:spcPts val="1100"/>
              </a:lnSpc>
              <a:spcAft>
                <a:spcPts val="0"/>
              </a:spcAft>
            </a:pPr>
            <a:r>
              <a:rPr sz="850" b="1">
                <a:solidFill>
                  <a:srgbClr val="E6EDF3"/>
                </a:solidFill>
                <a:latin typeface="Consolas"/>
              </a:rPr>
              <a:t>CRC    </a:t>
            </a:r>
            <a:r>
              <a:rPr sz="850" b="0">
                <a:solidFill>
                  <a:srgbClr val="8FA1B8"/>
                </a:solidFill>
                <a:latin typeface="Segoe UI"/>
              </a:rPr>
              <a:t>per 16-byte block — a mismatch on 20000 is </a:t>
            </a:r>
            <a:r>
              <a:rPr sz="850" b="1">
                <a:solidFill>
                  <a:srgbClr val="FF8A3D"/>
                </a:solidFill>
                <a:latin typeface="Segoe UI"/>
              </a:rPr>
              <a:t>evidence, not noise</a:t>
            </a:r>
            <a:r>
              <a:rPr sz="850" b="0">
                <a:solidFill>
                  <a:srgbClr val="8FA1B8"/>
                </a:solidFill>
                <a:latin typeface="Segoe UI"/>
              </a:rPr>
              <a:t>.</a:t>
            </a:r>
          </a:p>
        </p:txBody>
      </p:sp>
      <p:sp>
        <p:nvSpPr>
          <p:cNvPr id="33" name="Rectangle 32"/>
          <p:cNvSpPr/>
          <p:nvPr/>
        </p:nvSpPr>
        <p:spPr>
          <a:xfrm>
            <a:off x="10762488" y="5394960"/>
            <a:ext cx="5084064" cy="640080"/>
          </a:xfrm>
          <a:prstGeom prst="rect">
            <a:avLst/>
          </a:prstGeom>
          <a:solidFill>
            <a:srgbClr val="19202C"/>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890504" y="5458968"/>
            <a:ext cx="4828031" cy="512063"/>
          </a:xfrm>
          <a:prstGeom prst="rect">
            <a:avLst/>
          </a:prstGeom>
          <a:noFill/>
        </p:spPr>
        <p:txBody>
          <a:bodyPr wrap="square" lIns="0" rIns="0" tIns="0" bIns="0">
            <a:spAutoFit/>
          </a:bodyPr>
          <a:lstStyle/>
          <a:p>
            <a:pPr>
              <a:lnSpc>
                <a:spcPts val="1150"/>
              </a:lnSpc>
            </a:pPr>
            <a:r>
              <a:rPr sz="950" b="1">
                <a:solidFill>
                  <a:srgbClr val="FF8A3D"/>
                </a:solidFill>
                <a:latin typeface="Segoe UI"/>
              </a:rPr>
              <a:t>THE LINK ADDRESS IS A SECOND IDENTITY</a:t>
            </a:r>
          </a:p>
          <a:p>
            <a:pPr>
              <a:lnSpc>
                <a:spcPts val="1019"/>
              </a:lnSpc>
            </a:pPr>
            <a:r>
              <a:rPr sz="850" b="0">
                <a:solidFill>
                  <a:srgbClr val="E6EDF3"/>
                </a:solidFill>
                <a:latin typeface="Segoe UI"/>
              </a:rPr>
              <a:t>Your firewall sees 10.30.4.12. The protocol sees outstation 47. Nothing in the frame binds them together.</a:t>
            </a:r>
          </a:p>
          <a:p>
            <a:pPr>
              <a:lnSpc>
                <a:spcPts val="1019"/>
              </a:lnSpc>
            </a:pPr>
            <a:r>
              <a:rPr sz="850" b="1">
                <a:solidFill>
                  <a:srgbClr val="FF8A3D"/>
                </a:solidFill>
                <a:latin typeface="Segoe UI"/>
              </a:rPr>
              <a:t>Alert on the PAIR: a known master IP with an unexpected source link address, or a known link address arriving from a new IP.</a:t>
            </a:r>
          </a:p>
        </p:txBody>
      </p:sp>
      <p:sp>
        <p:nvSpPr>
          <p:cNvPr id="35" name="Rectangle 34"/>
          <p:cNvSpPr/>
          <p:nvPr/>
        </p:nvSpPr>
        <p:spPr>
          <a:xfrm>
            <a:off x="411480" y="6199632"/>
            <a:ext cx="9646920" cy="5870448"/>
          </a:xfrm>
          <a:prstGeom prst="rect">
            <a:avLst/>
          </a:prstGeom>
          <a:solidFill>
            <a:srgbClr val="131822"/>
          </a:solidFill>
          <a:ln w="12700">
            <a:solidFill>
              <a:srgbClr val="2A33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11480" y="6199632"/>
            <a:ext cx="9646920" cy="365760"/>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11480" y="6199632"/>
            <a:ext cx="54864" cy="5870448"/>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66928" y="6245352"/>
            <a:ext cx="9336024" cy="274320"/>
          </a:xfrm>
          <a:prstGeom prst="rect">
            <a:avLst/>
          </a:prstGeom>
          <a:noFill/>
        </p:spPr>
        <p:txBody>
          <a:bodyPr wrap="square" lIns="0" rIns="0" tIns="0" bIns="0">
            <a:spAutoFit/>
          </a:bodyPr>
          <a:lstStyle/>
          <a:p>
            <a:r>
              <a:rPr sz="1350" b="1">
                <a:solidFill>
                  <a:srgbClr val="0B0E14"/>
                </a:solidFill>
                <a:latin typeface="Segoe UI"/>
              </a:rPr>
              <a:t>4  </a:t>
            </a:r>
            <a:r>
              <a:rPr sz="1350" b="1">
                <a:solidFill>
                  <a:srgbClr val="0B0E14"/>
                </a:solidFill>
                <a:latin typeface="Segoe UI"/>
              </a:rPr>
              <a:t>FUNCTION CODES — THE WEAPON RACK</a:t>
            </a:r>
            <a:r>
              <a:rPr sz="1000" b="0">
                <a:solidFill>
                  <a:srgbClr val="0B0E14"/>
                </a:solidFill>
                <a:latin typeface="Segoe UI"/>
              </a:rPr>
              <a:t>     colour = what it does to the physical process</a:t>
            </a:r>
          </a:p>
        </p:txBody>
      </p:sp>
      <p:sp>
        <p:nvSpPr>
          <p:cNvPr id="39" name="Rectangle 38"/>
          <p:cNvSpPr/>
          <p:nvPr/>
        </p:nvSpPr>
        <p:spPr>
          <a:xfrm>
            <a:off x="612648" y="6675120"/>
            <a:ext cx="804672" cy="210312"/>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0B0E14"/>
                </a:solidFill>
                <a:latin typeface="Segoe UI"/>
              </a:rPr>
              <a:t>RECON</a:t>
            </a:r>
          </a:p>
        </p:txBody>
      </p:sp>
      <p:sp>
        <p:nvSpPr>
          <p:cNvPr id="40" name="Rectangle 39"/>
          <p:cNvSpPr/>
          <p:nvPr/>
        </p:nvSpPr>
        <p:spPr>
          <a:xfrm>
            <a:off x="1527048" y="6675120"/>
            <a:ext cx="694944" cy="210312"/>
          </a:xfrm>
          <a:prstGeom prst="rect">
            <a:avLst/>
          </a:prstGeom>
          <a:solidFill>
            <a:srgbClr val="8FA1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0B0E14"/>
                </a:solidFill>
                <a:latin typeface="Segoe UI"/>
              </a:rPr>
              <a:t>READ</a:t>
            </a:r>
          </a:p>
        </p:txBody>
      </p:sp>
      <p:sp>
        <p:nvSpPr>
          <p:cNvPr id="41" name="Rectangle 40"/>
          <p:cNvSpPr/>
          <p:nvPr/>
        </p:nvSpPr>
        <p:spPr>
          <a:xfrm>
            <a:off x="2340864" y="6675120"/>
            <a:ext cx="804672" cy="210312"/>
          </a:xfrm>
          <a:prstGeom prst="rect">
            <a:avLst/>
          </a:prstGeom>
          <a:solidFill>
            <a:srgbClr val="FF8A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0B0E14"/>
                </a:solidFill>
                <a:latin typeface="Segoe UI"/>
              </a:rPr>
              <a:t>WRITE</a:t>
            </a:r>
          </a:p>
        </p:txBody>
      </p:sp>
      <p:sp>
        <p:nvSpPr>
          <p:cNvPr id="42" name="Rectangle 41"/>
          <p:cNvSpPr/>
          <p:nvPr/>
        </p:nvSpPr>
        <p:spPr>
          <a:xfrm>
            <a:off x="3264408" y="6675120"/>
            <a:ext cx="2478024" cy="210312"/>
          </a:xfrm>
          <a:prstGeom prst="rect">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0B0E14"/>
                </a:solidFill>
                <a:latin typeface="Segoe UI"/>
              </a:rPr>
              <a:t>CONTROL / DESTRUCTIVE</a:t>
            </a:r>
          </a:p>
        </p:txBody>
      </p:sp>
      <p:sp>
        <p:nvSpPr>
          <p:cNvPr id="43" name="Rectangle 42"/>
          <p:cNvSpPr/>
          <p:nvPr/>
        </p:nvSpPr>
        <p:spPr>
          <a:xfrm>
            <a:off x="5861304" y="6675120"/>
            <a:ext cx="905256" cy="210312"/>
          </a:xfrm>
          <a:prstGeom prst="rect">
            <a:avLst/>
          </a:prstGeom>
          <a:solidFill>
            <a:srgbClr val="B388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0B0E14"/>
                </a:solidFill>
                <a:latin typeface="Segoe UI"/>
              </a:rPr>
              <a:t>AUTH</a:t>
            </a:r>
          </a:p>
        </p:txBody>
      </p:sp>
      <p:sp>
        <p:nvSpPr>
          <p:cNvPr id="44" name="TextBox 43"/>
          <p:cNvSpPr txBox="1"/>
          <p:nvPr/>
        </p:nvSpPr>
        <p:spPr>
          <a:xfrm>
            <a:off x="612648" y="7004304"/>
            <a:ext cx="9244584" cy="5029200"/>
          </a:xfrm>
          <a:prstGeom prst="rect">
            <a:avLst/>
          </a:prstGeom>
          <a:noFill/>
        </p:spPr>
        <p:txBody>
          <a:bodyPr wrap="square" lIns="0" rIns="0" tIns="0" bIns="0">
            <a:spAutoFit/>
          </a:bodyPr>
          <a:lstStyle/>
          <a:p>
            <a:pPr>
              <a:lnSpc>
                <a:spcPts val="1110"/>
              </a:lnSpc>
              <a:spcAft>
                <a:spcPts val="0"/>
              </a:spcAft>
            </a:pPr>
            <a:r>
              <a:rPr sz="850" b="1">
                <a:solidFill>
                  <a:srgbClr val="FFB020"/>
                </a:solidFill>
                <a:latin typeface="Segoe UI"/>
              </a:rPr>
              <a:t>READ  —  99% of a healthy DNP3 network is these four</a:t>
            </a:r>
          </a:p>
          <a:p>
            <a:pPr>
              <a:lnSpc>
                <a:spcPts val="1110"/>
              </a:lnSpc>
              <a:spcAft>
                <a:spcPts val="0"/>
              </a:spcAft>
            </a:pPr>
            <a:r>
              <a:rPr sz="800" b="1">
                <a:solidFill>
                  <a:srgbClr val="8FA1B8"/>
                </a:solidFill>
                <a:latin typeface="Consolas"/>
              </a:rPr>
              <a:t> 01  </a:t>
            </a:r>
            <a:r>
              <a:rPr sz="800" b="0">
                <a:solidFill>
                  <a:srgbClr val="22D3EE"/>
                </a:solidFill>
                <a:latin typeface="Consolas"/>
              </a:rPr>
              <a:t>0x01   </a:t>
            </a:r>
            <a:r>
              <a:rPr sz="800" b="1">
                <a:solidFill>
                  <a:srgbClr val="E6EDF3"/>
                </a:solidFill>
                <a:latin typeface="Consolas"/>
              </a:rPr>
              <a:t>Read                    </a:t>
            </a:r>
            <a:r>
              <a:rPr sz="850" b="0">
                <a:solidFill>
                  <a:srgbClr val="8FA1B8"/>
                </a:solidFill>
                <a:latin typeface="Segoe UI"/>
              </a:rPr>
              <a:t>Class &amp; integrity polls  ·  recon when the source is new</a:t>
            </a:r>
          </a:p>
          <a:p>
            <a:pPr>
              <a:lnSpc>
                <a:spcPts val="1110"/>
              </a:lnSpc>
              <a:spcAft>
                <a:spcPts val="0"/>
              </a:spcAft>
            </a:pPr>
            <a:r>
              <a:rPr sz="800" b="1">
                <a:solidFill>
                  <a:srgbClr val="8FA1B8"/>
                </a:solidFill>
                <a:latin typeface="Consolas"/>
              </a:rPr>
              <a:t>129  </a:t>
            </a:r>
            <a:r>
              <a:rPr sz="800" b="0">
                <a:solidFill>
                  <a:srgbClr val="22D3EE"/>
                </a:solidFill>
                <a:latin typeface="Consolas"/>
              </a:rPr>
              <a:t>0x81   </a:t>
            </a:r>
            <a:r>
              <a:rPr sz="800" b="1">
                <a:solidFill>
                  <a:srgbClr val="E6EDF3"/>
                </a:solidFill>
                <a:latin typeface="Consolas"/>
              </a:rPr>
              <a:t>Response                </a:t>
            </a:r>
            <a:r>
              <a:rPr sz="850" b="0">
                <a:solidFill>
                  <a:srgbClr val="8FA1B8"/>
                </a:solidFill>
                <a:latin typeface="Segoe UI"/>
              </a:rPr>
              <a:t>the outstation reply — carries the IIN</a:t>
            </a:r>
          </a:p>
          <a:p>
            <a:pPr>
              <a:lnSpc>
                <a:spcPts val="1110"/>
              </a:lnSpc>
              <a:spcAft>
                <a:spcPts val="0"/>
              </a:spcAft>
            </a:pPr>
            <a:r>
              <a:rPr sz="800" b="1">
                <a:solidFill>
                  <a:srgbClr val="8FA1B8"/>
                </a:solidFill>
                <a:latin typeface="Consolas"/>
              </a:rPr>
              <a:t>130  </a:t>
            </a:r>
            <a:r>
              <a:rPr sz="800" b="0">
                <a:solidFill>
                  <a:srgbClr val="22D3EE"/>
                </a:solidFill>
                <a:latin typeface="Consolas"/>
              </a:rPr>
              <a:t>0x82   </a:t>
            </a:r>
            <a:r>
              <a:rPr sz="800" b="1">
                <a:solidFill>
                  <a:srgbClr val="E6EDF3"/>
                </a:solidFill>
                <a:latin typeface="Consolas"/>
              </a:rPr>
              <a:t>Unsolicited Response    </a:t>
            </a:r>
            <a:r>
              <a:rPr sz="850" b="0">
                <a:solidFill>
                  <a:srgbClr val="8FA1B8"/>
                </a:solidFill>
                <a:latin typeface="Segoe UI"/>
              </a:rPr>
              <a:t>event push with no poll — enabled per point</a:t>
            </a:r>
          </a:p>
          <a:p>
            <a:pPr>
              <a:lnSpc>
                <a:spcPts val="1110"/>
              </a:lnSpc>
              <a:spcAft>
                <a:spcPts val="0"/>
              </a:spcAft>
            </a:pPr>
            <a:r>
              <a:rPr sz="800" b="1">
                <a:solidFill>
                  <a:srgbClr val="8FA1B8"/>
                </a:solidFill>
                <a:latin typeface="Consolas"/>
              </a:rPr>
              <a:t> 00  </a:t>
            </a:r>
            <a:r>
              <a:rPr sz="800" b="0">
                <a:solidFill>
                  <a:srgbClr val="22D3EE"/>
                </a:solidFill>
                <a:latin typeface="Consolas"/>
              </a:rPr>
              <a:t>0x00   </a:t>
            </a:r>
            <a:r>
              <a:rPr sz="800" b="1">
                <a:solidFill>
                  <a:srgbClr val="E6EDF3"/>
                </a:solidFill>
                <a:latin typeface="Consolas"/>
              </a:rPr>
              <a:t>Confirm                 </a:t>
            </a:r>
            <a:r>
              <a:rPr sz="850" b="0">
                <a:solidFill>
                  <a:srgbClr val="8FA1B8"/>
                </a:solidFill>
                <a:latin typeface="Segoe UI"/>
              </a:rPr>
              <a:t>link and application acknowledgement</a:t>
            </a:r>
          </a:p>
          <a:p>
            <a:pPr>
              <a:lnSpc>
                <a:spcPts val="1110"/>
              </a:lnSpc>
              <a:spcAft>
                <a:spcPts val="0"/>
              </a:spcAft>
            </a:pPr>
            <a:r>
              <a:rPr sz="800" b="1">
                <a:solidFill>
                  <a:srgbClr val="8FA1B8"/>
                </a:solidFill>
                <a:latin typeface="Consolas"/>
              </a:rPr>
              <a:t> 23  </a:t>
            </a:r>
            <a:r>
              <a:rPr sz="800" b="0">
                <a:solidFill>
                  <a:srgbClr val="22D3EE"/>
                </a:solidFill>
                <a:latin typeface="Consolas"/>
              </a:rPr>
              <a:t>0x17   </a:t>
            </a:r>
            <a:r>
              <a:rPr sz="800" b="1">
                <a:solidFill>
                  <a:srgbClr val="E6EDF3"/>
                </a:solidFill>
                <a:latin typeface="Consolas"/>
              </a:rPr>
              <a:t>Delay Measurement       </a:t>
            </a:r>
            <a:r>
              <a:rPr sz="850" b="0">
                <a:solidFill>
                  <a:srgbClr val="8FA1B8"/>
                </a:solidFill>
                <a:latin typeface="Segoe UI"/>
              </a:rPr>
              <a:t>link timing        24  0x18  Record Current Time</a:t>
            </a:r>
          </a:p>
          <a:p>
            <a:pPr>
              <a:lnSpc>
                <a:spcPts val="1110"/>
              </a:lnSpc>
              <a:spcAft>
                <a:spcPts val="0"/>
              </a:spcAft>
            </a:pPr>
            <a:r>
              <a:rPr sz="350" b="0">
                <a:solidFill>
                  <a:srgbClr val="E6EDF3"/>
                </a:solidFill>
                <a:latin typeface="Segoe UI"/>
              </a:rPr>
              <a:t> </a:t>
            </a:r>
          </a:p>
          <a:p>
            <a:pPr>
              <a:lnSpc>
                <a:spcPts val="1110"/>
              </a:lnSpc>
              <a:spcAft>
                <a:spcPts val="0"/>
              </a:spcAft>
            </a:pPr>
            <a:r>
              <a:rPr sz="850" b="1">
                <a:solidFill>
                  <a:srgbClr val="FFB020"/>
                </a:solidFill>
                <a:latin typeface="Segoe UI"/>
              </a:rPr>
              <a:t>CONTROL  —  Select-Before-Operate, and the way round it</a:t>
            </a:r>
          </a:p>
          <a:p>
            <a:pPr>
              <a:lnSpc>
                <a:spcPts val="1110"/>
              </a:lnSpc>
              <a:spcAft>
                <a:spcPts val="0"/>
              </a:spcAft>
            </a:pPr>
            <a:r>
              <a:rPr sz="800" b="1">
                <a:solidFill>
                  <a:srgbClr val="FF8A3D"/>
                </a:solidFill>
                <a:latin typeface="Consolas"/>
              </a:rPr>
              <a:t> 03  </a:t>
            </a:r>
            <a:r>
              <a:rPr sz="800" b="0">
                <a:solidFill>
                  <a:srgbClr val="22D3EE"/>
                </a:solidFill>
                <a:latin typeface="Consolas"/>
              </a:rPr>
              <a:t>0x03   </a:t>
            </a:r>
            <a:r>
              <a:rPr sz="800" b="1">
                <a:solidFill>
                  <a:srgbClr val="E6EDF3"/>
                </a:solidFill>
                <a:latin typeface="Consolas"/>
              </a:rPr>
              <a:t>Select                  </a:t>
            </a:r>
            <a:r>
              <a:rPr sz="850" b="0">
                <a:solidFill>
                  <a:srgbClr val="FF8A3D"/>
                </a:solidFill>
                <a:latin typeface="Segoe UI"/>
              </a:rPr>
              <a:t>arms a point — control intent, nothing moves      T0855</a:t>
            </a:r>
          </a:p>
          <a:p>
            <a:pPr>
              <a:lnSpc>
                <a:spcPts val="1110"/>
              </a:lnSpc>
              <a:spcAft>
                <a:spcPts val="0"/>
              </a:spcAft>
            </a:pPr>
            <a:r>
              <a:rPr sz="800" b="1">
                <a:solidFill>
                  <a:srgbClr val="FF4D5E"/>
                </a:solidFill>
                <a:latin typeface="Consolas"/>
              </a:rPr>
              <a:t> 04  </a:t>
            </a:r>
            <a:r>
              <a:rPr sz="800" b="0">
                <a:solidFill>
                  <a:srgbClr val="22D3EE"/>
                </a:solidFill>
                <a:latin typeface="Consolas"/>
              </a:rPr>
              <a:t>0x04   </a:t>
            </a:r>
            <a:r>
              <a:rPr sz="800" b="1">
                <a:solidFill>
                  <a:srgbClr val="E6EDF3"/>
                </a:solidFill>
                <a:latin typeface="Consolas"/>
              </a:rPr>
              <a:t>Operate                 </a:t>
            </a:r>
            <a:r>
              <a:rPr sz="850" b="0">
                <a:solidFill>
                  <a:srgbClr val="FF4D5E"/>
                </a:solidFill>
                <a:latin typeface="Segoe UI"/>
              </a:rPr>
              <a:t>fires the armed point — a physical change         T0831</a:t>
            </a:r>
          </a:p>
          <a:p>
            <a:pPr>
              <a:lnSpc>
                <a:spcPts val="1110"/>
              </a:lnSpc>
              <a:spcAft>
                <a:spcPts val="0"/>
              </a:spcAft>
            </a:pPr>
            <a:r>
              <a:rPr sz="800" b="1">
                <a:solidFill>
                  <a:srgbClr val="FF4D5E"/>
                </a:solidFill>
                <a:latin typeface="Consolas"/>
              </a:rPr>
              <a:t> 05  </a:t>
            </a:r>
            <a:r>
              <a:rPr sz="800" b="0">
                <a:solidFill>
                  <a:srgbClr val="22D3EE"/>
                </a:solidFill>
                <a:latin typeface="Consolas"/>
              </a:rPr>
              <a:t>0x05   </a:t>
            </a:r>
            <a:r>
              <a:rPr sz="800" b="1">
                <a:solidFill>
                  <a:srgbClr val="E6EDF3"/>
                </a:solidFill>
                <a:latin typeface="Consolas"/>
              </a:rPr>
              <a:t>Direct Operate          </a:t>
            </a:r>
            <a:r>
              <a:rPr sz="850" b="0">
                <a:solidFill>
                  <a:srgbClr val="FF4D5E"/>
                </a:solidFill>
                <a:latin typeface="Segoe UI"/>
              </a:rPr>
              <a:t>NO Select. one message, identical result          T0831</a:t>
            </a:r>
          </a:p>
          <a:p>
            <a:pPr>
              <a:lnSpc>
                <a:spcPts val="1110"/>
              </a:lnSpc>
              <a:spcAft>
                <a:spcPts val="0"/>
              </a:spcAft>
            </a:pPr>
            <a:r>
              <a:rPr sz="800" b="1">
                <a:solidFill>
                  <a:srgbClr val="FF4D5E"/>
                </a:solidFill>
                <a:latin typeface="Consolas"/>
              </a:rPr>
              <a:t> 06  </a:t>
            </a:r>
            <a:r>
              <a:rPr sz="800" b="0">
                <a:solidFill>
                  <a:srgbClr val="22D3EE"/>
                </a:solidFill>
                <a:latin typeface="Consolas"/>
              </a:rPr>
              <a:t>0x06   </a:t>
            </a:r>
            <a:r>
              <a:rPr sz="800" b="1">
                <a:solidFill>
                  <a:srgbClr val="E6EDF3"/>
                </a:solidFill>
                <a:latin typeface="Consolas"/>
              </a:rPr>
              <a:t>Direct Operate No Ack   </a:t>
            </a:r>
            <a:r>
              <a:rPr sz="850" b="0">
                <a:solidFill>
                  <a:srgbClr val="FF4D5E"/>
                </a:solidFill>
                <a:latin typeface="Segoe UI"/>
              </a:rPr>
              <a:t>same again, and no response to correlate on       T0831</a:t>
            </a:r>
          </a:p>
          <a:p>
            <a:pPr>
              <a:lnSpc>
                <a:spcPts val="1110"/>
              </a:lnSpc>
              <a:spcAft>
                <a:spcPts val="0"/>
              </a:spcAft>
            </a:pPr>
            <a:r>
              <a:rPr sz="350" b="0">
                <a:solidFill>
                  <a:srgbClr val="E6EDF3"/>
                </a:solidFill>
                <a:latin typeface="Segoe UI"/>
              </a:rPr>
              <a:t> </a:t>
            </a:r>
          </a:p>
          <a:p>
            <a:pPr>
              <a:lnSpc>
                <a:spcPts val="1110"/>
              </a:lnSpc>
              <a:spcAft>
                <a:spcPts val="0"/>
              </a:spcAft>
            </a:pPr>
            <a:r>
              <a:rPr sz="850" b="1">
                <a:solidFill>
                  <a:srgbClr val="FFB020"/>
                </a:solidFill>
                <a:latin typeface="Segoe UI"/>
              </a:rPr>
              <a:t>WRITE  —  state change without a control code</a:t>
            </a:r>
          </a:p>
          <a:p>
            <a:pPr>
              <a:lnSpc>
                <a:spcPts val="1110"/>
              </a:lnSpc>
              <a:spcAft>
                <a:spcPts val="0"/>
              </a:spcAft>
            </a:pPr>
            <a:r>
              <a:rPr sz="800" b="1">
                <a:solidFill>
                  <a:srgbClr val="FF8A3D"/>
                </a:solidFill>
                <a:latin typeface="Consolas"/>
              </a:rPr>
              <a:t> 02  </a:t>
            </a:r>
            <a:r>
              <a:rPr sz="800" b="0">
                <a:solidFill>
                  <a:srgbClr val="22D3EE"/>
                </a:solidFill>
                <a:latin typeface="Consolas"/>
              </a:rPr>
              <a:t>0x02   </a:t>
            </a:r>
            <a:r>
              <a:rPr sz="800" b="1">
                <a:solidFill>
                  <a:srgbClr val="E6EDF3"/>
                </a:solidFill>
                <a:latin typeface="Consolas"/>
              </a:rPr>
              <a:t>Write                   </a:t>
            </a:r>
            <a:r>
              <a:rPr sz="850" b="0">
                <a:solidFill>
                  <a:srgbClr val="FF8A3D"/>
                </a:solidFill>
                <a:latin typeface="Segoe UI"/>
              </a:rPr>
              <a:t>outputs, TIME, configuration values               T0836</a:t>
            </a:r>
          </a:p>
          <a:p>
            <a:pPr>
              <a:lnSpc>
                <a:spcPts val="1110"/>
              </a:lnSpc>
              <a:spcAft>
                <a:spcPts val="0"/>
              </a:spcAft>
            </a:pPr>
            <a:r>
              <a:rPr sz="800" b="1">
                <a:solidFill>
                  <a:srgbClr val="FF8A3D"/>
                </a:solidFill>
                <a:latin typeface="Consolas"/>
              </a:rPr>
              <a:t> 07  </a:t>
            </a:r>
            <a:r>
              <a:rPr sz="800" b="0">
                <a:solidFill>
                  <a:srgbClr val="22D3EE"/>
                </a:solidFill>
                <a:latin typeface="Consolas"/>
              </a:rPr>
              <a:t>– 12   </a:t>
            </a:r>
            <a:r>
              <a:rPr sz="800" b="1">
                <a:solidFill>
                  <a:srgbClr val="E6EDF3"/>
                </a:solidFill>
                <a:latin typeface="Consolas"/>
              </a:rPr>
              <a:t>Freeze / Freeze &amp; Clear </a:t>
            </a:r>
            <a:r>
              <a:rPr sz="850" b="0">
                <a:solidFill>
                  <a:srgbClr val="FF8A3D"/>
                </a:solidFill>
                <a:latin typeface="Segoe UI"/>
              </a:rPr>
              <a:t>± time, ± no-ack — wipes accumulators             T0836</a:t>
            </a:r>
          </a:p>
          <a:p>
            <a:pPr>
              <a:lnSpc>
                <a:spcPts val="1110"/>
              </a:lnSpc>
              <a:spcAft>
                <a:spcPts val="0"/>
              </a:spcAft>
            </a:pPr>
            <a:r>
              <a:rPr sz="800" b="1">
                <a:solidFill>
                  <a:srgbClr val="FF8A3D"/>
                </a:solidFill>
                <a:latin typeface="Consolas"/>
              </a:rPr>
              <a:t> 22  </a:t>
            </a:r>
            <a:r>
              <a:rPr sz="800" b="0">
                <a:solidFill>
                  <a:srgbClr val="22D3EE"/>
                </a:solidFill>
                <a:latin typeface="Consolas"/>
              </a:rPr>
              <a:t>0x16   </a:t>
            </a:r>
            <a:r>
              <a:rPr sz="800" b="1">
                <a:solidFill>
                  <a:srgbClr val="E6EDF3"/>
                </a:solidFill>
                <a:latin typeface="Consolas"/>
              </a:rPr>
              <a:t>Assign Class            </a:t>
            </a:r>
            <a:r>
              <a:rPr sz="850" b="0">
                <a:solidFill>
                  <a:srgbClr val="FF8A3D"/>
                </a:solidFill>
                <a:latin typeface="Segoe UI"/>
              </a:rPr>
              <a:t>changes what gets reported, and when              T0856</a:t>
            </a:r>
          </a:p>
          <a:p>
            <a:pPr>
              <a:lnSpc>
                <a:spcPts val="1110"/>
              </a:lnSpc>
              <a:spcAft>
                <a:spcPts val="0"/>
              </a:spcAft>
            </a:pPr>
            <a:r>
              <a:rPr sz="800" b="1">
                <a:solidFill>
                  <a:srgbClr val="FF8A3D"/>
                </a:solidFill>
                <a:latin typeface="Consolas"/>
              </a:rPr>
              <a:t> 20  </a:t>
            </a:r>
            <a:r>
              <a:rPr sz="800" b="0">
                <a:solidFill>
                  <a:srgbClr val="22D3EE"/>
                </a:solidFill>
                <a:latin typeface="Consolas"/>
              </a:rPr>
              <a:t>0x14   </a:t>
            </a:r>
            <a:r>
              <a:rPr sz="800" b="1">
                <a:solidFill>
                  <a:srgbClr val="E6EDF3"/>
                </a:solidFill>
                <a:latin typeface="Consolas"/>
              </a:rPr>
              <a:t>Enable Unsolicited      </a:t>
            </a:r>
            <a:r>
              <a:rPr sz="850" b="0">
                <a:solidFill>
                  <a:srgbClr val="FF8A3D"/>
                </a:solidFill>
                <a:latin typeface="Segoe UI"/>
              </a:rPr>
              <a:t>flood or mask the event stream</a:t>
            </a:r>
          </a:p>
          <a:p>
            <a:pPr>
              <a:lnSpc>
                <a:spcPts val="1110"/>
              </a:lnSpc>
              <a:spcAft>
                <a:spcPts val="0"/>
              </a:spcAft>
            </a:pPr>
            <a:r>
              <a:rPr sz="800" b="1">
                <a:solidFill>
                  <a:srgbClr val="FF4D5E"/>
                </a:solidFill>
                <a:latin typeface="Consolas"/>
              </a:rPr>
              <a:t> 21  </a:t>
            </a:r>
            <a:r>
              <a:rPr sz="800" b="0">
                <a:solidFill>
                  <a:srgbClr val="22D3EE"/>
                </a:solidFill>
                <a:latin typeface="Consolas"/>
              </a:rPr>
              <a:t>0x15   </a:t>
            </a:r>
            <a:r>
              <a:rPr sz="800" b="1">
                <a:solidFill>
                  <a:srgbClr val="E6EDF3"/>
                </a:solidFill>
                <a:latin typeface="Consolas"/>
              </a:rPr>
              <a:t>Disable Unsolicited     </a:t>
            </a:r>
            <a:r>
              <a:rPr sz="850" b="0">
                <a:solidFill>
                  <a:srgbClr val="FF4D5E"/>
                </a:solidFill>
                <a:latin typeface="Segoe UI"/>
              </a:rPr>
              <a:t>SILENCES the outstation — denial of view          T0815</a:t>
            </a:r>
          </a:p>
          <a:p>
            <a:pPr>
              <a:lnSpc>
                <a:spcPts val="1110"/>
              </a:lnSpc>
              <a:spcAft>
                <a:spcPts val="0"/>
              </a:spcAft>
            </a:pPr>
            <a:r>
              <a:rPr sz="350" b="0">
                <a:solidFill>
                  <a:srgbClr val="E6EDF3"/>
                </a:solidFill>
                <a:latin typeface="Segoe UI"/>
              </a:rPr>
              <a:t> </a:t>
            </a:r>
          </a:p>
          <a:p>
            <a:pPr>
              <a:lnSpc>
                <a:spcPts val="1110"/>
              </a:lnSpc>
              <a:spcAft>
                <a:spcPts val="0"/>
              </a:spcAft>
            </a:pPr>
            <a:r>
              <a:rPr sz="850" b="1">
                <a:solidFill>
                  <a:srgbClr val="FFB020"/>
                </a:solidFill>
                <a:latin typeface="Segoe UI"/>
              </a:rPr>
              <a:t>DESTRUCTIVE  —  loss of control on one device, or on all of them</a:t>
            </a:r>
          </a:p>
          <a:p>
            <a:pPr>
              <a:lnSpc>
                <a:spcPts val="1110"/>
              </a:lnSpc>
              <a:spcAft>
                <a:spcPts val="0"/>
              </a:spcAft>
            </a:pPr>
            <a:r>
              <a:rPr sz="800" b="1">
                <a:solidFill>
                  <a:srgbClr val="FF4D5E"/>
                </a:solidFill>
                <a:latin typeface="Consolas"/>
              </a:rPr>
              <a:t> 13  </a:t>
            </a:r>
            <a:r>
              <a:rPr sz="800" b="0">
                <a:solidFill>
                  <a:srgbClr val="22D3EE"/>
                </a:solidFill>
                <a:latin typeface="Consolas"/>
              </a:rPr>
              <a:t>0x0D   </a:t>
            </a:r>
            <a:r>
              <a:rPr sz="800" b="1">
                <a:solidFill>
                  <a:srgbClr val="E6EDF3"/>
                </a:solidFill>
                <a:latin typeface="Consolas"/>
              </a:rPr>
              <a:t>Cold Restart            </a:t>
            </a:r>
            <a:r>
              <a:rPr sz="850" b="0">
                <a:solidFill>
                  <a:srgbClr val="FF4D5E"/>
                </a:solidFill>
                <a:latin typeface="Segoe UI"/>
              </a:rPr>
              <a:t>full outstation reboot                            T0816</a:t>
            </a:r>
          </a:p>
          <a:p>
            <a:pPr>
              <a:lnSpc>
                <a:spcPts val="1110"/>
              </a:lnSpc>
              <a:spcAft>
                <a:spcPts val="0"/>
              </a:spcAft>
            </a:pPr>
            <a:r>
              <a:rPr sz="800" b="1">
                <a:solidFill>
                  <a:srgbClr val="FF4D5E"/>
                </a:solidFill>
                <a:latin typeface="Consolas"/>
              </a:rPr>
              <a:t> 14  </a:t>
            </a:r>
            <a:r>
              <a:rPr sz="800" b="0">
                <a:solidFill>
                  <a:srgbClr val="22D3EE"/>
                </a:solidFill>
                <a:latin typeface="Consolas"/>
              </a:rPr>
              <a:t>0x0E   </a:t>
            </a:r>
            <a:r>
              <a:rPr sz="800" b="1">
                <a:solidFill>
                  <a:srgbClr val="E6EDF3"/>
                </a:solidFill>
                <a:latin typeface="Consolas"/>
              </a:rPr>
              <a:t>Warm Restart            </a:t>
            </a:r>
            <a:r>
              <a:rPr sz="850" b="0">
                <a:solidFill>
                  <a:srgbClr val="FF4D5E"/>
                </a:solidFill>
                <a:latin typeface="Segoe UI"/>
              </a:rPr>
              <a:t>application restart                               T0816</a:t>
            </a:r>
          </a:p>
          <a:p>
            <a:pPr>
              <a:lnSpc>
                <a:spcPts val="1110"/>
              </a:lnSpc>
              <a:spcAft>
                <a:spcPts val="0"/>
              </a:spcAft>
            </a:pPr>
            <a:r>
              <a:rPr sz="800" b="1">
                <a:solidFill>
                  <a:srgbClr val="FF4D5E"/>
                </a:solidFill>
                <a:latin typeface="Consolas"/>
              </a:rPr>
              <a:t> 18  </a:t>
            </a:r>
            <a:r>
              <a:rPr sz="800" b="0">
                <a:solidFill>
                  <a:srgbClr val="22D3EE"/>
                </a:solidFill>
                <a:latin typeface="Consolas"/>
              </a:rPr>
              <a:t>0x12   </a:t>
            </a:r>
            <a:r>
              <a:rPr sz="800" b="1">
                <a:solidFill>
                  <a:srgbClr val="E6EDF3"/>
                </a:solidFill>
                <a:latin typeface="Consolas"/>
              </a:rPr>
              <a:t>Stop Application        </a:t>
            </a:r>
            <a:r>
              <a:rPr sz="850" b="0">
                <a:solidFill>
                  <a:srgbClr val="FF4D5E"/>
                </a:solidFill>
                <a:latin typeface="Segoe UI"/>
              </a:rPr>
              <a:t>halts the outstation application                  T0816</a:t>
            </a:r>
          </a:p>
          <a:p>
            <a:pPr>
              <a:lnSpc>
                <a:spcPts val="1110"/>
              </a:lnSpc>
              <a:spcAft>
                <a:spcPts val="0"/>
              </a:spcAft>
            </a:pPr>
            <a:r>
              <a:rPr sz="800" b="1">
                <a:solidFill>
                  <a:srgbClr val="FF4D5E"/>
                </a:solidFill>
                <a:latin typeface="Consolas"/>
              </a:rPr>
              <a:t> 15  </a:t>
            </a:r>
            <a:r>
              <a:rPr sz="800" b="0">
                <a:solidFill>
                  <a:srgbClr val="22D3EE"/>
                </a:solidFill>
                <a:latin typeface="Consolas"/>
              </a:rPr>
              <a:t>0x0F   </a:t>
            </a:r>
            <a:r>
              <a:rPr sz="800" b="1">
                <a:solidFill>
                  <a:srgbClr val="E6EDF3"/>
                </a:solidFill>
                <a:latin typeface="Consolas"/>
              </a:rPr>
              <a:t>Initialize Data         </a:t>
            </a:r>
            <a:r>
              <a:rPr sz="850" b="0">
                <a:solidFill>
                  <a:srgbClr val="FF4D5E"/>
                </a:solidFill>
                <a:latin typeface="Segoe UI"/>
              </a:rPr>
              <a:t>data points back to defaults                      T0836</a:t>
            </a:r>
          </a:p>
          <a:p>
            <a:pPr>
              <a:lnSpc>
                <a:spcPts val="1110"/>
              </a:lnSpc>
              <a:spcAft>
                <a:spcPts val="0"/>
              </a:spcAft>
            </a:pPr>
            <a:r>
              <a:rPr sz="800" b="1">
                <a:solidFill>
                  <a:srgbClr val="FF4D5E"/>
                </a:solidFill>
                <a:latin typeface="Consolas"/>
              </a:rPr>
              <a:t> 16  </a:t>
            </a:r>
            <a:r>
              <a:rPr sz="800" b="0">
                <a:solidFill>
                  <a:srgbClr val="22D3EE"/>
                </a:solidFill>
                <a:latin typeface="Consolas"/>
              </a:rPr>
              <a:t>/ 17   </a:t>
            </a:r>
            <a:r>
              <a:rPr sz="800" b="1">
                <a:solidFill>
                  <a:srgbClr val="E6EDF3"/>
                </a:solidFill>
                <a:latin typeface="Consolas"/>
              </a:rPr>
              <a:t>Init / Start Application</a:t>
            </a:r>
            <a:r>
              <a:rPr sz="850" b="0">
                <a:solidFill>
                  <a:srgbClr val="FF4D5E"/>
                </a:solidFill>
                <a:latin typeface="Segoe UI"/>
              </a:rPr>
              <a:t>reinitialise, then run                            T0855</a:t>
            </a:r>
          </a:p>
          <a:p>
            <a:pPr>
              <a:lnSpc>
                <a:spcPts val="1110"/>
              </a:lnSpc>
              <a:spcAft>
                <a:spcPts val="0"/>
              </a:spcAft>
            </a:pPr>
            <a:r>
              <a:rPr sz="800" b="1">
                <a:solidFill>
                  <a:srgbClr val="FF4D5E"/>
                </a:solidFill>
                <a:latin typeface="Consolas"/>
              </a:rPr>
              <a:t> 19  </a:t>
            </a:r>
            <a:r>
              <a:rPr sz="800" b="0">
                <a:solidFill>
                  <a:srgbClr val="22D3EE"/>
                </a:solidFill>
                <a:latin typeface="Consolas"/>
              </a:rPr>
              <a:t>0x13   </a:t>
            </a:r>
            <a:r>
              <a:rPr sz="800" b="1">
                <a:solidFill>
                  <a:srgbClr val="E6EDF3"/>
                </a:solidFill>
                <a:latin typeface="Consolas"/>
              </a:rPr>
              <a:t>Save Configuration      </a:t>
            </a:r>
            <a:r>
              <a:rPr sz="850" b="0">
                <a:solidFill>
                  <a:srgbClr val="FF4D5E"/>
                </a:solidFill>
                <a:latin typeface="Segoe UI"/>
              </a:rPr>
              <a:t>persist the running config to NVRAM               T0836</a:t>
            </a:r>
          </a:p>
          <a:p>
            <a:pPr>
              <a:lnSpc>
                <a:spcPts val="1110"/>
              </a:lnSpc>
              <a:spcAft>
                <a:spcPts val="0"/>
              </a:spcAft>
            </a:pPr>
            <a:r>
              <a:rPr sz="800" b="1">
                <a:solidFill>
                  <a:srgbClr val="FF4D5E"/>
                </a:solidFill>
                <a:latin typeface="Consolas"/>
              </a:rPr>
              <a:t> 31  </a:t>
            </a:r>
            <a:r>
              <a:rPr sz="800" b="0">
                <a:solidFill>
                  <a:srgbClr val="22D3EE"/>
                </a:solidFill>
                <a:latin typeface="Consolas"/>
              </a:rPr>
              <a:t>0x1F   </a:t>
            </a:r>
            <a:r>
              <a:rPr sz="800" b="1">
                <a:solidFill>
                  <a:srgbClr val="E6EDF3"/>
                </a:solidFill>
                <a:latin typeface="Consolas"/>
              </a:rPr>
              <a:t>Activate Configuration  </a:t>
            </a:r>
            <a:r>
              <a:rPr sz="850" b="0">
                <a:solidFill>
                  <a:srgbClr val="FF4D5E"/>
                </a:solidFill>
                <a:latin typeface="Segoe UI"/>
              </a:rPr>
              <a:t>commit a staged configuration                     T0836</a:t>
            </a:r>
          </a:p>
          <a:p>
            <a:pPr>
              <a:lnSpc>
                <a:spcPts val="1110"/>
              </a:lnSpc>
              <a:spcAft>
                <a:spcPts val="0"/>
              </a:spcAft>
            </a:pPr>
            <a:r>
              <a:rPr sz="350" b="0">
                <a:solidFill>
                  <a:srgbClr val="E6EDF3"/>
                </a:solidFill>
                <a:latin typeface="Segoe UI"/>
              </a:rPr>
              <a:t> </a:t>
            </a:r>
          </a:p>
          <a:p>
            <a:pPr>
              <a:lnSpc>
                <a:spcPts val="1110"/>
              </a:lnSpc>
              <a:spcAft>
                <a:spcPts val="0"/>
              </a:spcAft>
            </a:pPr>
            <a:r>
              <a:rPr sz="850" b="1">
                <a:solidFill>
                  <a:srgbClr val="FFB020"/>
                </a:solidFill>
                <a:latin typeface="Segoe UI"/>
              </a:rPr>
              <a:t>FILE  —  approximately never in normal telemetry</a:t>
            </a:r>
          </a:p>
          <a:p>
            <a:pPr>
              <a:lnSpc>
                <a:spcPts val="1110"/>
              </a:lnSpc>
              <a:spcAft>
                <a:spcPts val="0"/>
              </a:spcAft>
            </a:pPr>
            <a:r>
              <a:rPr sz="800" b="1">
                <a:solidFill>
                  <a:srgbClr val="FF4D5E"/>
                </a:solidFill>
                <a:latin typeface="Consolas"/>
              </a:rPr>
              <a:t> 25  </a:t>
            </a:r>
            <a:r>
              <a:rPr sz="800" b="0">
                <a:solidFill>
                  <a:srgbClr val="22D3EE"/>
                </a:solidFill>
                <a:latin typeface="Consolas"/>
              </a:rPr>
              <a:t>– 30   </a:t>
            </a:r>
            <a:r>
              <a:rPr sz="800" b="1">
                <a:solidFill>
                  <a:srgbClr val="E6EDF3"/>
                </a:solidFill>
                <a:latin typeface="Consolas"/>
              </a:rPr>
              <a:t>Open/Close/Delete/Info  </a:t>
            </a:r>
            <a:r>
              <a:rPr sz="850" b="0">
                <a:solidFill>
                  <a:srgbClr val="FF4D5E"/>
                </a:solidFill>
                <a:latin typeface="Segoe UI"/>
              </a:rPr>
              <a:t>+ Authenticate, Abort File — config &amp; firmware    T0845</a:t>
            </a:r>
          </a:p>
          <a:p>
            <a:pPr>
              <a:lnSpc>
                <a:spcPts val="1110"/>
              </a:lnSpc>
              <a:spcAft>
                <a:spcPts val="0"/>
              </a:spcAft>
            </a:pPr>
            <a:r>
              <a:rPr sz="350" b="0">
                <a:solidFill>
                  <a:srgbClr val="E6EDF3"/>
                </a:solidFill>
                <a:latin typeface="Segoe UI"/>
              </a:rPr>
              <a:t> </a:t>
            </a:r>
          </a:p>
          <a:p>
            <a:pPr>
              <a:lnSpc>
                <a:spcPts val="1110"/>
              </a:lnSpc>
              <a:spcAft>
                <a:spcPts val="0"/>
              </a:spcAft>
            </a:pPr>
            <a:r>
              <a:rPr sz="850" b="1">
                <a:solidFill>
                  <a:srgbClr val="FFB020"/>
                </a:solidFill>
                <a:latin typeface="Segoe UI"/>
              </a:rPr>
              <a:t>AUTH  —  DNP3 Secure Authentication v5, where it is switched on</a:t>
            </a:r>
          </a:p>
          <a:p>
            <a:pPr>
              <a:lnSpc>
                <a:spcPts val="1110"/>
              </a:lnSpc>
              <a:spcAft>
                <a:spcPts val="0"/>
              </a:spcAft>
            </a:pPr>
            <a:r>
              <a:rPr sz="800" b="1">
                <a:solidFill>
                  <a:srgbClr val="B388FF"/>
                </a:solidFill>
                <a:latin typeface="Consolas"/>
              </a:rPr>
              <a:t> 32  </a:t>
            </a:r>
            <a:r>
              <a:rPr sz="800" b="0">
                <a:solidFill>
                  <a:srgbClr val="22D3EE"/>
                </a:solidFill>
                <a:latin typeface="Consolas"/>
              </a:rPr>
              <a:t>0x20   </a:t>
            </a:r>
            <a:r>
              <a:rPr sz="800" b="1">
                <a:solidFill>
                  <a:srgbClr val="E6EDF3"/>
                </a:solidFill>
                <a:latin typeface="Consolas"/>
              </a:rPr>
              <a:t>Authenticate Request    </a:t>
            </a:r>
            <a:r>
              <a:rPr sz="850" b="0">
                <a:solidFill>
                  <a:srgbClr val="B388FF"/>
                </a:solidFill>
                <a:latin typeface="Segoe UI"/>
              </a:rPr>
              <a:t>SAv5 is on the wire — not that it covers this FC</a:t>
            </a:r>
          </a:p>
          <a:p>
            <a:pPr>
              <a:lnSpc>
                <a:spcPts val="1110"/>
              </a:lnSpc>
              <a:spcAft>
                <a:spcPts val="0"/>
              </a:spcAft>
            </a:pPr>
            <a:r>
              <a:rPr sz="800" b="1">
                <a:solidFill>
                  <a:srgbClr val="B388FF"/>
                </a:solidFill>
                <a:latin typeface="Consolas"/>
              </a:rPr>
              <a:t> 33  </a:t>
            </a:r>
            <a:r>
              <a:rPr sz="800" b="0">
                <a:solidFill>
                  <a:srgbClr val="22D3EE"/>
                </a:solidFill>
                <a:latin typeface="Consolas"/>
              </a:rPr>
              <a:t>0x21   </a:t>
            </a:r>
            <a:r>
              <a:rPr sz="800" b="1">
                <a:solidFill>
                  <a:srgbClr val="E6EDF3"/>
                </a:solidFill>
                <a:latin typeface="Consolas"/>
              </a:rPr>
              <a:t>Authenticate Error      </a:t>
            </a:r>
            <a:r>
              <a:rPr sz="850" b="0">
                <a:solidFill>
                  <a:srgbClr val="B388FF"/>
                </a:solidFill>
                <a:latin typeface="Segoe UI"/>
              </a:rPr>
              <a:t>challenge failed, or the key is wrong</a:t>
            </a:r>
          </a:p>
        </p:txBody>
      </p:sp>
      <p:sp>
        <p:nvSpPr>
          <p:cNvPr id="45" name="Rectangle 44"/>
          <p:cNvSpPr/>
          <p:nvPr/>
        </p:nvSpPr>
        <p:spPr>
          <a:xfrm>
            <a:off x="10241280" y="6199632"/>
            <a:ext cx="5806440" cy="5870448"/>
          </a:xfrm>
          <a:prstGeom prst="rect">
            <a:avLst/>
          </a:prstGeom>
          <a:solidFill>
            <a:srgbClr val="131822"/>
          </a:solidFill>
          <a:ln w="12700">
            <a:solidFill>
              <a:srgbClr val="2A33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0241280" y="6199632"/>
            <a:ext cx="5806440" cy="3657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0241280" y="6199632"/>
            <a:ext cx="54864" cy="5870448"/>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0396728" y="6245352"/>
            <a:ext cx="5495544" cy="274320"/>
          </a:xfrm>
          <a:prstGeom prst="rect">
            <a:avLst/>
          </a:prstGeom>
          <a:noFill/>
        </p:spPr>
        <p:txBody>
          <a:bodyPr wrap="square" lIns="0" rIns="0" tIns="0" bIns="0">
            <a:spAutoFit/>
          </a:bodyPr>
          <a:lstStyle/>
          <a:p>
            <a:r>
              <a:rPr sz="1350" b="1">
                <a:solidFill>
                  <a:srgbClr val="0B0E14"/>
                </a:solidFill>
                <a:latin typeface="Segoe UI"/>
              </a:rPr>
              <a:t>5  </a:t>
            </a:r>
            <a:r>
              <a:rPr sz="1350" b="1">
                <a:solidFill>
                  <a:srgbClr val="0B0E14"/>
                </a:solidFill>
                <a:latin typeface="Segoe UI"/>
              </a:rPr>
              <a:t>THE CROB  &amp;  THE IIN</a:t>
            </a:r>
          </a:p>
        </p:txBody>
      </p:sp>
      <p:sp>
        <p:nvSpPr>
          <p:cNvPr id="49" name="TextBox 48"/>
          <p:cNvSpPr txBox="1"/>
          <p:nvPr/>
        </p:nvSpPr>
        <p:spPr>
          <a:xfrm>
            <a:off x="10442448" y="6675120"/>
            <a:ext cx="5404104" cy="1691640"/>
          </a:xfrm>
          <a:prstGeom prst="rect">
            <a:avLst/>
          </a:prstGeom>
          <a:noFill/>
        </p:spPr>
        <p:txBody>
          <a:bodyPr wrap="square" lIns="0" rIns="0" tIns="0" bIns="0">
            <a:spAutoFit/>
          </a:bodyPr>
          <a:lstStyle/>
          <a:p>
            <a:pPr>
              <a:lnSpc>
                <a:spcPts val="1100"/>
              </a:lnSpc>
              <a:spcAft>
                <a:spcPts val="0"/>
              </a:spcAft>
            </a:pPr>
            <a:r>
              <a:rPr sz="950" b="1">
                <a:solidFill>
                  <a:srgbClr val="FFB020"/>
                </a:solidFill>
                <a:latin typeface="Segoe UI"/>
              </a:rPr>
              <a:t>GROUP 12 VAR 1 — CONTROL RELAY OUTPUT BLOCK</a:t>
            </a:r>
          </a:p>
          <a:p>
            <a:pPr>
              <a:lnSpc>
                <a:spcPts val="1100"/>
              </a:lnSpc>
              <a:spcAft>
                <a:spcPts val="0"/>
              </a:spcAft>
            </a:pPr>
            <a:r>
              <a:rPr sz="850" b="0">
                <a:solidFill>
                  <a:srgbClr val="64748B"/>
                </a:solidFill>
                <a:latin typeface="Consolas"/>
              </a:rPr>
              <a:t>┌────────────┬───────┬──────────┬──────────┬────────┐</a:t>
            </a:r>
          </a:p>
          <a:p>
            <a:pPr>
              <a:lnSpc>
                <a:spcPts val="1100"/>
              </a:lnSpc>
              <a:spcAft>
                <a:spcPts val="0"/>
              </a:spcAft>
            </a:pPr>
            <a:r>
              <a:rPr sz="850" b="0">
                <a:solidFill>
                  <a:srgbClr val="64748B"/>
                </a:solidFill>
                <a:latin typeface="Consolas"/>
              </a:rPr>
              <a:t>│ </a:t>
            </a:r>
            <a:r>
              <a:rPr sz="850" b="1">
                <a:solidFill>
                  <a:srgbClr val="FF4D5E"/>
                </a:solidFill>
                <a:latin typeface="Consolas"/>
              </a:rPr>
              <a:t>CTRL CODE</a:t>
            </a:r>
            <a:r>
              <a:rPr sz="850" b="0">
                <a:solidFill>
                  <a:srgbClr val="8FA1B8"/>
                </a:solidFill>
                <a:latin typeface="Consolas"/>
              </a:rPr>
              <a:t>  │ COUNT │ ON TIME  │ OFF TIME │ STATUS │</a:t>
            </a:r>
          </a:p>
          <a:p>
            <a:pPr>
              <a:lnSpc>
                <a:spcPts val="1100"/>
              </a:lnSpc>
              <a:spcAft>
                <a:spcPts val="0"/>
              </a:spcAft>
            </a:pPr>
            <a:r>
              <a:rPr sz="850" b="0">
                <a:solidFill>
                  <a:srgbClr val="8FA1B8"/>
                </a:solidFill>
                <a:latin typeface="Consolas"/>
              </a:rPr>
              <a:t>│    1 B     │  1 B  │   4 B    │   4 B    │  1 B   │</a:t>
            </a:r>
          </a:p>
          <a:p>
            <a:pPr>
              <a:lnSpc>
                <a:spcPts val="1100"/>
              </a:lnSpc>
              <a:spcAft>
                <a:spcPts val="0"/>
              </a:spcAft>
            </a:pPr>
            <a:r>
              <a:rPr sz="850" b="0">
                <a:solidFill>
                  <a:srgbClr val="64748B"/>
                </a:solidFill>
                <a:latin typeface="Consolas"/>
              </a:rPr>
              <a:t>└────────────┴───────┴──────────┴──────────┴────────┘</a:t>
            </a:r>
          </a:p>
          <a:p>
            <a:pPr>
              <a:lnSpc>
                <a:spcPts val="1100"/>
              </a:lnSpc>
              <a:spcAft>
                <a:spcPts val="0"/>
              </a:spcAft>
            </a:pPr>
            <a:r>
              <a:rPr sz="350" b="0">
                <a:solidFill>
                  <a:srgbClr val="E6EDF3"/>
                </a:solidFill>
                <a:latin typeface="Segoe UI"/>
              </a:rPr>
              <a:t> </a:t>
            </a:r>
          </a:p>
          <a:p>
            <a:pPr>
              <a:lnSpc>
                <a:spcPts val="1100"/>
              </a:lnSpc>
              <a:spcAft>
                <a:spcPts val="0"/>
              </a:spcAft>
            </a:pPr>
            <a:r>
              <a:rPr sz="850" b="1">
                <a:solidFill>
                  <a:srgbClr val="E6EDF3"/>
                </a:solidFill>
                <a:latin typeface="Consolas"/>
              </a:rPr>
              <a:t>CONTROL CODE   </a:t>
            </a:r>
            <a:r>
              <a:rPr sz="850" b="0">
                <a:solidFill>
                  <a:srgbClr val="8FA1B8"/>
                </a:solidFill>
                <a:latin typeface="Consolas"/>
              </a:rPr>
              <a:t>bit  7 6 │ 5 │ 4 │ 3 2 1 0</a:t>
            </a:r>
          </a:p>
          <a:p>
            <a:pPr>
              <a:lnSpc>
                <a:spcPts val="1100"/>
              </a:lnSpc>
              <a:spcAft>
                <a:spcPts val="0"/>
              </a:spcAft>
            </a:pPr>
            <a:r>
              <a:rPr sz="850" b="0">
                <a:solidFill>
                  <a:srgbClr val="E6EDF3"/>
                </a:solidFill>
                <a:latin typeface="Consolas"/>
              </a:rPr>
              <a:t>               </a:t>
            </a:r>
            <a:r>
              <a:rPr sz="850" b="1">
                <a:solidFill>
                  <a:srgbClr val="22D3EE"/>
                </a:solidFill>
                <a:latin typeface="Consolas"/>
              </a:rPr>
              <a:t>    [TCC]│ C │ Q │ [OP TYPE]</a:t>
            </a:r>
          </a:p>
          <a:p>
            <a:pPr>
              <a:lnSpc>
                <a:spcPts val="1100"/>
              </a:lnSpc>
              <a:spcAft>
                <a:spcPts val="0"/>
              </a:spcAft>
            </a:pPr>
            <a:r>
              <a:rPr sz="850" b="1">
                <a:solidFill>
                  <a:srgbClr val="8FA1B8"/>
                </a:solidFill>
                <a:latin typeface="Consolas"/>
              </a:rPr>
              <a:t>  TCC   </a:t>
            </a:r>
            <a:r>
              <a:rPr sz="850" b="0">
                <a:solidFill>
                  <a:srgbClr val="E6EDF3"/>
                </a:solidFill>
                <a:latin typeface="Consolas"/>
              </a:rPr>
              <a:t>0 NUL    1 CLOSE    2 TRIP</a:t>
            </a:r>
          </a:p>
          <a:p>
            <a:pPr>
              <a:lnSpc>
                <a:spcPts val="1100"/>
              </a:lnSpc>
              <a:spcAft>
                <a:spcPts val="0"/>
              </a:spcAft>
            </a:pPr>
            <a:r>
              <a:rPr sz="850" b="1">
                <a:solidFill>
                  <a:srgbClr val="8FA1B8"/>
                </a:solidFill>
                <a:latin typeface="Consolas"/>
              </a:rPr>
              <a:t>  OP    </a:t>
            </a:r>
            <a:r>
              <a:rPr sz="850" b="0">
                <a:solidFill>
                  <a:srgbClr val="E6EDF3"/>
                </a:solidFill>
                <a:latin typeface="Consolas"/>
              </a:rPr>
              <a:t>0 NUL  1 PULSE_ON  2 PULSE_OFF  3 LATCH_ON  4 LATCH_OFF</a:t>
            </a:r>
          </a:p>
          <a:p>
            <a:pPr>
              <a:lnSpc>
                <a:spcPts val="1100"/>
              </a:lnSpc>
              <a:spcAft>
                <a:spcPts val="0"/>
              </a:spcAft>
            </a:pPr>
            <a:r>
              <a:rPr sz="350" b="0">
                <a:solidFill>
                  <a:srgbClr val="E6EDF3"/>
                </a:solidFill>
                <a:latin typeface="Segoe UI"/>
              </a:rPr>
              <a:t> </a:t>
            </a:r>
          </a:p>
          <a:p>
            <a:pPr>
              <a:lnSpc>
                <a:spcPts val="1100"/>
              </a:lnSpc>
              <a:spcAft>
                <a:spcPts val="0"/>
              </a:spcAft>
            </a:pPr>
            <a:r>
              <a:rPr sz="950" b="1">
                <a:solidFill>
                  <a:srgbClr val="FF4D5E"/>
                </a:solidFill>
                <a:latin typeface="Consolas"/>
              </a:rPr>
              <a:t>  0x41 = CLOSE + PULSE_ON          0x81 = TRIP + PULSE_ON</a:t>
            </a:r>
          </a:p>
          <a:p>
            <a:pPr>
              <a:lnSpc>
                <a:spcPts val="1100"/>
              </a:lnSpc>
              <a:spcAft>
                <a:spcPts val="0"/>
              </a:spcAft>
            </a:pPr>
            <a:r>
              <a:rPr sz="850" b="1">
                <a:solidFill>
                  <a:srgbClr val="FF8A3D"/>
                </a:solidFill>
                <a:latin typeface="Segoe UI"/>
              </a:rPr>
              <a:t>Eleven bytes. One of them is intent.</a:t>
            </a:r>
          </a:p>
        </p:txBody>
      </p:sp>
      <p:sp>
        <p:nvSpPr>
          <p:cNvPr id="50" name="TextBox 49"/>
          <p:cNvSpPr txBox="1"/>
          <p:nvPr/>
        </p:nvSpPr>
        <p:spPr>
          <a:xfrm>
            <a:off x="10442448" y="8641080"/>
            <a:ext cx="5404104" cy="1371600"/>
          </a:xfrm>
          <a:prstGeom prst="rect">
            <a:avLst/>
          </a:prstGeom>
          <a:noFill/>
        </p:spPr>
        <p:txBody>
          <a:bodyPr wrap="square" lIns="0" rIns="0" tIns="0" bIns="0">
            <a:spAutoFit/>
          </a:bodyPr>
          <a:lstStyle/>
          <a:p>
            <a:pPr>
              <a:lnSpc>
                <a:spcPts val="1060"/>
              </a:lnSpc>
              <a:spcAft>
                <a:spcPts val="0"/>
              </a:spcAft>
            </a:pPr>
            <a:r>
              <a:rPr sz="950" b="1">
                <a:solidFill>
                  <a:srgbClr val="FFB020"/>
                </a:solidFill>
                <a:latin typeface="Segoe UI"/>
              </a:rPr>
              <a:t>IIN — INTERNAL INDICATIONS   2 B on every FC 129 / 130</a:t>
            </a:r>
          </a:p>
          <a:p>
            <a:pPr>
              <a:lnSpc>
                <a:spcPts val="1060"/>
              </a:lnSpc>
              <a:spcAft>
                <a:spcPts val="0"/>
              </a:spcAft>
            </a:pPr>
            <a:r>
              <a:rPr sz="800" b="1">
                <a:solidFill>
                  <a:srgbClr val="8FA1B8"/>
                </a:solidFill>
                <a:latin typeface="Consolas"/>
              </a:rPr>
              <a:t>FIRST OCTET                        SECOND OCTET</a:t>
            </a:r>
          </a:p>
          <a:p>
            <a:pPr>
              <a:lnSpc>
                <a:spcPts val="1060"/>
              </a:lnSpc>
              <a:spcAft>
                <a:spcPts val="0"/>
              </a:spcAft>
            </a:pPr>
            <a:r>
              <a:rPr sz="800" b="0">
                <a:solidFill>
                  <a:srgbClr val="8FA1B8"/>
                </a:solidFill>
                <a:latin typeface="Consolas"/>
              </a:rPr>
              <a:t>0x01 Broadcast msg received  </a:t>
            </a:r>
            <a:r>
              <a:rPr sz="800" b="0">
                <a:solidFill>
                  <a:srgbClr val="8FA1B8"/>
                </a:solidFill>
                <a:latin typeface="Consolas"/>
              </a:rPr>
              <a:t>   </a:t>
            </a:r>
            <a:r>
              <a:rPr sz="800" b="0">
                <a:solidFill>
                  <a:srgbClr val="FF4D5E"/>
                </a:solidFill>
                <a:latin typeface="Consolas"/>
              </a:rPr>
              <a:t>0x01 Function code not supported</a:t>
            </a:r>
          </a:p>
          <a:p>
            <a:pPr>
              <a:lnSpc>
                <a:spcPts val="1060"/>
              </a:lnSpc>
              <a:spcAft>
                <a:spcPts val="0"/>
              </a:spcAft>
            </a:pPr>
            <a:r>
              <a:rPr sz="800" b="0">
                <a:solidFill>
                  <a:srgbClr val="8FA1B8"/>
                </a:solidFill>
                <a:latin typeface="Consolas"/>
              </a:rPr>
              <a:t>0x02 Class 1 events available</a:t>
            </a:r>
            <a:r>
              <a:rPr sz="800" b="0">
                <a:solidFill>
                  <a:srgbClr val="8FA1B8"/>
                </a:solidFill>
                <a:latin typeface="Consolas"/>
              </a:rPr>
              <a:t>   </a:t>
            </a:r>
            <a:r>
              <a:rPr sz="800" b="0">
                <a:solidFill>
                  <a:srgbClr val="FF4D5E"/>
                </a:solidFill>
                <a:latin typeface="Consolas"/>
              </a:rPr>
              <a:t>0x02 Object unknown             </a:t>
            </a:r>
          </a:p>
          <a:p>
            <a:pPr>
              <a:lnSpc>
                <a:spcPts val="1060"/>
              </a:lnSpc>
              <a:spcAft>
                <a:spcPts val="0"/>
              </a:spcAft>
            </a:pPr>
            <a:r>
              <a:rPr sz="800" b="0">
                <a:solidFill>
                  <a:srgbClr val="8FA1B8"/>
                </a:solidFill>
                <a:latin typeface="Consolas"/>
              </a:rPr>
              <a:t>0x04 Class 2 events available</a:t>
            </a:r>
            <a:r>
              <a:rPr sz="800" b="0">
                <a:solidFill>
                  <a:srgbClr val="8FA1B8"/>
                </a:solidFill>
                <a:latin typeface="Consolas"/>
              </a:rPr>
              <a:t>   </a:t>
            </a:r>
            <a:r>
              <a:rPr sz="800" b="0">
                <a:solidFill>
                  <a:srgbClr val="FF4D5E"/>
                </a:solidFill>
                <a:latin typeface="Consolas"/>
              </a:rPr>
              <a:t>0x04 Parameter error            </a:t>
            </a:r>
          </a:p>
          <a:p>
            <a:pPr>
              <a:lnSpc>
                <a:spcPts val="1060"/>
              </a:lnSpc>
              <a:spcAft>
                <a:spcPts val="0"/>
              </a:spcAft>
            </a:pPr>
            <a:r>
              <a:rPr sz="800" b="0">
                <a:solidFill>
                  <a:srgbClr val="8FA1B8"/>
                </a:solidFill>
                <a:latin typeface="Consolas"/>
              </a:rPr>
              <a:t>0x08 Class 3 events available</a:t>
            </a:r>
            <a:r>
              <a:rPr sz="800" b="0">
                <a:solidFill>
                  <a:srgbClr val="8FA1B8"/>
                </a:solidFill>
                <a:latin typeface="Consolas"/>
              </a:rPr>
              <a:t>   </a:t>
            </a:r>
            <a:r>
              <a:rPr sz="800" b="0">
                <a:solidFill>
                  <a:srgbClr val="FF8A3D"/>
                </a:solidFill>
                <a:latin typeface="Consolas"/>
              </a:rPr>
              <a:t>0x08 Event buffer overflow      </a:t>
            </a:r>
          </a:p>
          <a:p>
            <a:pPr>
              <a:lnSpc>
                <a:spcPts val="1060"/>
              </a:lnSpc>
              <a:spcAft>
                <a:spcPts val="0"/>
              </a:spcAft>
            </a:pPr>
            <a:r>
              <a:rPr sz="800" b="0">
                <a:solidFill>
                  <a:srgbClr val="8FA1B8"/>
                </a:solidFill>
                <a:latin typeface="Consolas"/>
              </a:rPr>
              <a:t>0x10 Need time — sync request</a:t>
            </a:r>
            <a:r>
              <a:rPr sz="800" b="0">
                <a:solidFill>
                  <a:srgbClr val="8FA1B8"/>
                </a:solidFill>
                <a:latin typeface="Consolas"/>
              </a:rPr>
              <a:t>   </a:t>
            </a:r>
            <a:r>
              <a:rPr sz="800" b="0">
                <a:solidFill>
                  <a:srgbClr val="8FA1B8"/>
                </a:solidFill>
                <a:latin typeface="Consolas"/>
              </a:rPr>
              <a:t>0x10 Operation already executing</a:t>
            </a:r>
          </a:p>
          <a:p>
            <a:pPr>
              <a:lnSpc>
                <a:spcPts val="1060"/>
              </a:lnSpc>
              <a:spcAft>
                <a:spcPts val="0"/>
              </a:spcAft>
            </a:pPr>
            <a:r>
              <a:rPr sz="800" b="0">
                <a:solidFill>
                  <a:srgbClr val="FF8A3D"/>
                </a:solidFill>
                <a:latin typeface="Consolas"/>
              </a:rPr>
              <a:t>0x20 Local control — LOCAL   </a:t>
            </a:r>
            <a:r>
              <a:rPr sz="800" b="0">
                <a:solidFill>
                  <a:srgbClr val="8FA1B8"/>
                </a:solidFill>
                <a:latin typeface="Consolas"/>
              </a:rPr>
              <a:t>   </a:t>
            </a:r>
            <a:r>
              <a:rPr sz="800" b="0">
                <a:solidFill>
                  <a:srgbClr val="FF4D5E"/>
                </a:solidFill>
                <a:latin typeface="Consolas"/>
              </a:rPr>
              <a:t>0x20 Configuration corrupt      </a:t>
            </a:r>
          </a:p>
          <a:p>
            <a:pPr>
              <a:lnSpc>
                <a:spcPts val="1060"/>
              </a:lnSpc>
              <a:spcAft>
                <a:spcPts val="0"/>
              </a:spcAft>
            </a:pPr>
            <a:r>
              <a:rPr sz="800" b="0">
                <a:solidFill>
                  <a:srgbClr val="FF8A3D"/>
                </a:solidFill>
                <a:latin typeface="Consolas"/>
              </a:rPr>
              <a:t>0x40 Device trouble          </a:t>
            </a:r>
            <a:r>
              <a:rPr sz="800" b="0">
                <a:solidFill>
                  <a:srgbClr val="8FA1B8"/>
                </a:solidFill>
                <a:latin typeface="Consolas"/>
              </a:rPr>
              <a:t>   </a:t>
            </a:r>
            <a:r>
              <a:rPr sz="800" b="0">
                <a:solidFill>
                  <a:srgbClr val="64748B"/>
                </a:solidFill>
                <a:latin typeface="Consolas"/>
              </a:rPr>
              <a:t>0x40 reserved                   </a:t>
            </a:r>
          </a:p>
          <a:p>
            <a:pPr>
              <a:lnSpc>
                <a:spcPts val="1060"/>
              </a:lnSpc>
              <a:spcAft>
                <a:spcPts val="0"/>
              </a:spcAft>
            </a:pPr>
            <a:r>
              <a:rPr sz="800" b="0">
                <a:solidFill>
                  <a:srgbClr val="FF4D5E"/>
                </a:solidFill>
                <a:latin typeface="Consolas"/>
              </a:rPr>
              <a:t>0x80 Device restart          </a:t>
            </a:r>
            <a:r>
              <a:rPr sz="800" b="0">
                <a:solidFill>
                  <a:srgbClr val="8FA1B8"/>
                </a:solidFill>
                <a:latin typeface="Consolas"/>
              </a:rPr>
              <a:t>   </a:t>
            </a:r>
            <a:r>
              <a:rPr sz="800" b="0">
                <a:solidFill>
                  <a:srgbClr val="64748B"/>
                </a:solidFill>
                <a:latin typeface="Consolas"/>
              </a:rPr>
              <a:t>0x80 reserved                   </a:t>
            </a:r>
          </a:p>
        </p:txBody>
      </p:sp>
      <p:sp>
        <p:nvSpPr>
          <p:cNvPr id="51" name="TextBox 50"/>
          <p:cNvSpPr txBox="1"/>
          <p:nvPr/>
        </p:nvSpPr>
        <p:spPr>
          <a:xfrm>
            <a:off x="10442448" y="10058400"/>
            <a:ext cx="5404104" cy="594360"/>
          </a:xfrm>
          <a:prstGeom prst="rect">
            <a:avLst/>
          </a:prstGeom>
          <a:noFill/>
        </p:spPr>
        <p:txBody>
          <a:bodyPr wrap="square" lIns="0" rIns="0" tIns="0" bIns="0">
            <a:spAutoFit/>
          </a:bodyPr>
          <a:lstStyle/>
          <a:p>
            <a:pPr>
              <a:lnSpc>
                <a:spcPts val="1060"/>
              </a:lnSpc>
              <a:spcAft>
                <a:spcPts val="0"/>
              </a:spcAft>
            </a:pPr>
            <a:r>
              <a:rPr sz="950" b="1">
                <a:solidFill>
                  <a:srgbClr val="FFB020"/>
                </a:solidFill>
                <a:latin typeface="Segoe UI"/>
              </a:rPr>
              <a:t>QUALIFIER — how a request addresses the points</a:t>
            </a:r>
          </a:p>
          <a:p>
            <a:pPr>
              <a:lnSpc>
                <a:spcPts val="1060"/>
              </a:lnSpc>
              <a:spcAft>
                <a:spcPts val="0"/>
              </a:spcAft>
            </a:pPr>
            <a:r>
              <a:rPr sz="800" b="1">
                <a:solidFill>
                  <a:srgbClr val="22D3EE"/>
                </a:solidFill>
                <a:latin typeface="Consolas"/>
              </a:rPr>
              <a:t>0x00 / 0x01  </a:t>
            </a:r>
            <a:r>
              <a:rPr sz="800" b="0">
                <a:solidFill>
                  <a:srgbClr val="E6EDF3"/>
                </a:solidFill>
                <a:latin typeface="Consolas"/>
              </a:rPr>
              <a:t>8- / 16-bit start-stop range</a:t>
            </a:r>
            <a:r>
              <a:rPr sz="800" b="1">
                <a:solidFill>
                  <a:srgbClr val="22D3EE"/>
                </a:solidFill>
                <a:latin typeface="Consolas"/>
              </a:rPr>
              <a:t>     0x06  </a:t>
            </a:r>
            <a:r>
              <a:rPr sz="800" b="0">
                <a:solidFill>
                  <a:srgbClr val="E6EDF3"/>
                </a:solidFill>
                <a:latin typeface="Consolas"/>
              </a:rPr>
              <a:t>all points, no range</a:t>
            </a:r>
          </a:p>
          <a:p>
            <a:pPr>
              <a:lnSpc>
                <a:spcPts val="1060"/>
              </a:lnSpc>
              <a:spcAft>
                <a:spcPts val="0"/>
              </a:spcAft>
            </a:pPr>
            <a:r>
              <a:rPr sz="800" b="1">
                <a:solidFill>
                  <a:srgbClr val="22D3EE"/>
                </a:solidFill>
                <a:latin typeface="Consolas"/>
              </a:rPr>
              <a:t>0x07 / 0x08  </a:t>
            </a:r>
            <a:r>
              <a:rPr sz="800" b="0">
                <a:solidFill>
                  <a:srgbClr val="E6EDF3"/>
                </a:solidFill>
                <a:latin typeface="Consolas"/>
              </a:rPr>
              <a:t>limited quantity, 8/16-bit</a:t>
            </a:r>
            <a:r>
              <a:rPr sz="800" b="1">
                <a:solidFill>
                  <a:srgbClr val="22D3EE"/>
                </a:solidFill>
                <a:latin typeface="Consolas"/>
              </a:rPr>
              <a:t>  0x17 / 0x28  </a:t>
            </a:r>
            <a:r>
              <a:rPr sz="800" b="0">
                <a:solidFill>
                  <a:srgbClr val="E6EDF3"/>
                </a:solidFill>
                <a:latin typeface="Consolas"/>
              </a:rPr>
              <a:t>index prefix + count</a:t>
            </a:r>
          </a:p>
          <a:p>
            <a:pPr>
              <a:lnSpc>
                <a:spcPts val="1060"/>
              </a:lnSpc>
              <a:spcAft>
                <a:spcPts val="0"/>
              </a:spcAft>
            </a:pPr>
            <a:r>
              <a:rPr sz="850" b="0">
                <a:solidFill>
                  <a:srgbClr val="8FA1B8"/>
                </a:solidFill>
                <a:latin typeface="Segoe UI"/>
              </a:rPr>
              <a:t>A Class 0 integrity poll is </a:t>
            </a:r>
            <a:r>
              <a:rPr sz="850" b="1">
                <a:solidFill>
                  <a:srgbClr val="3DDC97"/>
                </a:solidFill>
                <a:latin typeface="Consolas"/>
              </a:rPr>
              <a:t>01 3C 01 06</a:t>
            </a:r>
            <a:r>
              <a:rPr sz="850" b="0">
                <a:solidFill>
                  <a:srgbClr val="8FA1B8"/>
                </a:solidFill>
                <a:latin typeface="Segoe UI"/>
              </a:rPr>
              <a:t>.  A single-point CROB is </a:t>
            </a:r>
            <a:r>
              <a:rPr sz="850" b="1">
                <a:solidFill>
                  <a:srgbClr val="FF4D5E"/>
                </a:solidFill>
                <a:latin typeface="Consolas"/>
              </a:rPr>
              <a:t>0C 01 17 01</a:t>
            </a:r>
            <a:r>
              <a:rPr sz="850" b="0">
                <a:solidFill>
                  <a:srgbClr val="8FA1B8"/>
                </a:solidFill>
                <a:latin typeface="Segoe UI"/>
              </a:rPr>
              <a:t>.</a:t>
            </a:r>
          </a:p>
        </p:txBody>
      </p:sp>
      <p:sp>
        <p:nvSpPr>
          <p:cNvPr id="52" name="Rectangle 51"/>
          <p:cNvSpPr/>
          <p:nvPr/>
        </p:nvSpPr>
        <p:spPr>
          <a:xfrm>
            <a:off x="10442448" y="10753344"/>
            <a:ext cx="5404104" cy="1243584"/>
          </a:xfrm>
          <a:prstGeom prst="rect">
            <a:avLst/>
          </a:prstGeom>
          <a:solidFill>
            <a:srgbClr val="19202C"/>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10570464" y="10817352"/>
            <a:ext cx="5148072" cy="1115568"/>
          </a:xfrm>
          <a:prstGeom prst="rect">
            <a:avLst/>
          </a:prstGeom>
          <a:noFill/>
        </p:spPr>
        <p:txBody>
          <a:bodyPr wrap="square" lIns="0" rIns="0" tIns="0" bIns="0">
            <a:spAutoFit/>
          </a:bodyPr>
          <a:lstStyle/>
          <a:p>
            <a:pPr>
              <a:lnSpc>
                <a:spcPts val="1150"/>
              </a:lnSpc>
            </a:pPr>
            <a:r>
              <a:rPr sz="950" b="1">
                <a:solidFill>
                  <a:srgbClr val="FFB020"/>
                </a:solidFill>
                <a:latin typeface="Segoe UI"/>
              </a:rPr>
              <a:t>★  THE IIN IS A FREE INTRUSION DETECTOR</a:t>
            </a:r>
          </a:p>
          <a:p>
            <a:pPr>
              <a:lnSpc>
                <a:spcPts val="1040"/>
              </a:lnSpc>
            </a:pPr>
            <a:r>
              <a:rPr sz="850" b="0">
                <a:solidFill>
                  <a:srgbClr val="E6EDF3"/>
                </a:solidFill>
                <a:latin typeface="Segoe UI"/>
              </a:rPr>
              <a:t>Device Restart, Device Trouble and Configuration Corrupt confirm that something changed state — they are the outstation reporting its own outage.</a:t>
            </a:r>
          </a:p>
          <a:p>
            <a:pPr>
              <a:lnSpc>
                <a:spcPts val="1040"/>
              </a:lnSpc>
            </a:pPr>
            <a:r>
              <a:rPr sz="850" b="1">
                <a:solidFill>
                  <a:srgbClr val="FF8A3D"/>
                </a:solidFill>
                <a:latin typeface="Segoe UI"/>
              </a:rPr>
              <a:t>A burst of Function-code-not-supported / Object-unknown / Parameter-error is somebody enumerating or fuzzing that outstation.</a:t>
            </a:r>
          </a:p>
          <a:p>
            <a:pPr>
              <a:lnSpc>
                <a:spcPts val="1040"/>
              </a:lnSpc>
            </a:pPr>
            <a:r>
              <a:rPr sz="850" b="0">
                <a:solidFill>
                  <a:srgbClr val="E6EDF3"/>
                </a:solidFill>
                <a:latin typeface="Segoe UI"/>
              </a:rPr>
              <a:t>It rides in the RESPONSE, so you catch it even when you missed the request — and nobody reads it.</a:t>
            </a:r>
          </a:p>
        </p:txBody>
      </p:sp>
      <p:sp>
        <p:nvSpPr>
          <p:cNvPr id="54" name="Rectangle 53"/>
          <p:cNvSpPr/>
          <p:nvPr/>
        </p:nvSpPr>
        <p:spPr>
          <a:xfrm>
            <a:off x="411480" y="12216384"/>
            <a:ext cx="7726679" cy="4828032"/>
          </a:xfrm>
          <a:prstGeom prst="rect">
            <a:avLst/>
          </a:prstGeom>
          <a:solidFill>
            <a:srgbClr val="131822"/>
          </a:solidFill>
          <a:ln w="12700">
            <a:solidFill>
              <a:srgbClr val="2A33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411480" y="12216384"/>
            <a:ext cx="7726679" cy="365760"/>
          </a:xfrm>
          <a:prstGeom prst="rect">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411480" y="12216384"/>
            <a:ext cx="54864" cy="4828032"/>
          </a:xfrm>
          <a:prstGeom prst="rect">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566928" y="12262104"/>
            <a:ext cx="7415783" cy="274320"/>
          </a:xfrm>
          <a:prstGeom prst="rect">
            <a:avLst/>
          </a:prstGeom>
          <a:noFill/>
        </p:spPr>
        <p:txBody>
          <a:bodyPr wrap="square" lIns="0" rIns="0" tIns="0" bIns="0">
            <a:spAutoFit/>
          </a:bodyPr>
          <a:lstStyle/>
          <a:p>
            <a:r>
              <a:rPr sz="1350" b="1">
                <a:solidFill>
                  <a:srgbClr val="0B0E14"/>
                </a:solidFill>
                <a:latin typeface="Segoe UI"/>
              </a:rPr>
              <a:t>6  </a:t>
            </a:r>
            <a:r>
              <a:rPr sz="1350" b="1">
                <a:solidFill>
                  <a:srgbClr val="0B0E14"/>
                </a:solidFill>
                <a:latin typeface="Segoe UI"/>
              </a:rPr>
              <a:t>ATTACKER PLAYBOOK</a:t>
            </a:r>
            <a:r>
              <a:rPr sz="1000" b="0">
                <a:solidFill>
                  <a:srgbClr val="0B0E14"/>
                </a:solidFill>
                <a:latin typeface="Segoe UI"/>
              </a:rPr>
              <a:t>     ICS Kill Chain — Stage 2</a:t>
            </a:r>
          </a:p>
        </p:txBody>
      </p:sp>
      <p:sp>
        <p:nvSpPr>
          <p:cNvPr id="58" name="TextBox 57"/>
          <p:cNvSpPr txBox="1"/>
          <p:nvPr/>
        </p:nvSpPr>
        <p:spPr>
          <a:xfrm>
            <a:off x="612648" y="12691872"/>
            <a:ext cx="7324344" cy="3520440"/>
          </a:xfrm>
          <a:prstGeom prst="rect">
            <a:avLst/>
          </a:prstGeom>
          <a:noFill/>
        </p:spPr>
        <p:txBody>
          <a:bodyPr wrap="square" lIns="0" rIns="0" tIns="0" bIns="0">
            <a:spAutoFit/>
          </a:bodyPr>
          <a:lstStyle/>
          <a:p>
            <a:pPr>
              <a:lnSpc>
                <a:spcPts val="1060"/>
              </a:lnSpc>
              <a:spcAft>
                <a:spcPts val="0"/>
              </a:spcAft>
            </a:pPr>
            <a:r>
              <a:rPr sz="900" b="1">
                <a:solidFill>
                  <a:srgbClr val="FF4D5E"/>
                </a:solidFill>
                <a:latin typeface="Segoe UI"/>
              </a:rPr>
              <a:t>1  DISCOVER</a:t>
            </a:r>
          </a:p>
          <a:p>
            <a:pPr>
              <a:lnSpc>
                <a:spcPts val="1060"/>
              </a:lnSpc>
              <a:spcAft>
                <a:spcPts val="0"/>
              </a:spcAft>
            </a:pPr>
            <a:r>
              <a:rPr sz="850" b="0">
                <a:solidFill>
                  <a:srgbClr val="E6EDF3"/>
                </a:solidFill>
                <a:latin typeface="Segoe UI"/>
              </a:rPr>
              <a:t>Scan tcp/20000 — Shodan port:20000 still returns internet-facing outstations. Behind a serial gateway, sweep DNP3 destination link addresses 0–65519 to map every device on the loop from one IP.</a:t>
            </a:r>
          </a:p>
          <a:p>
            <a:pPr>
              <a:lnSpc>
                <a:spcPts val="1060"/>
              </a:lnSpc>
              <a:spcAft>
                <a:spcPts val="0"/>
              </a:spcAft>
            </a:pPr>
            <a:r>
              <a:rPr sz="350" b="0">
                <a:solidFill>
                  <a:srgbClr val="E6EDF3"/>
                </a:solidFill>
                <a:latin typeface="Segoe UI"/>
              </a:rPr>
              <a:t> </a:t>
            </a:r>
          </a:p>
          <a:p>
            <a:pPr>
              <a:lnSpc>
                <a:spcPts val="1060"/>
              </a:lnSpc>
              <a:spcAft>
                <a:spcPts val="0"/>
              </a:spcAft>
            </a:pPr>
            <a:r>
              <a:rPr sz="900" b="1">
                <a:solidFill>
                  <a:srgbClr val="FF4D5E"/>
                </a:solidFill>
                <a:latin typeface="Segoe UI"/>
              </a:rPr>
              <a:t>2  FINGERPRINT</a:t>
            </a:r>
          </a:p>
          <a:p>
            <a:pPr>
              <a:lnSpc>
                <a:spcPts val="1060"/>
              </a:lnSpc>
              <a:spcAft>
                <a:spcPts val="0"/>
              </a:spcAft>
            </a:pPr>
            <a:r>
              <a:rPr sz="850" b="0">
                <a:solidFill>
                  <a:srgbClr val="E6EDF3"/>
                </a:solidFill>
                <a:latin typeface="Segoe UI"/>
              </a:rPr>
              <a:t>FC 1 Read of Group 60 Var 1 — a Class 0 integrity poll — returns the entire static point map: every binary input, analog, counter and output the outstation owns. No session, no credential. It is byte-identical to the master's own poll, so the recon is free.</a:t>
            </a:r>
          </a:p>
          <a:p>
            <a:pPr>
              <a:lnSpc>
                <a:spcPts val="1060"/>
              </a:lnSpc>
              <a:spcAft>
                <a:spcPts val="0"/>
              </a:spcAft>
            </a:pPr>
            <a:r>
              <a:rPr sz="350" b="0">
                <a:solidFill>
                  <a:srgbClr val="E6EDF3"/>
                </a:solidFill>
                <a:latin typeface="Segoe UI"/>
              </a:rPr>
              <a:t> </a:t>
            </a:r>
          </a:p>
          <a:p>
            <a:pPr>
              <a:lnSpc>
                <a:spcPts val="1060"/>
              </a:lnSpc>
              <a:spcAft>
                <a:spcPts val="0"/>
              </a:spcAft>
            </a:pPr>
            <a:r>
              <a:rPr sz="900" b="1">
                <a:solidFill>
                  <a:srgbClr val="FF4D5E"/>
                </a:solidFill>
                <a:latin typeface="Segoe UI"/>
              </a:rPr>
              <a:t>3  MAP THE PROCESS</a:t>
            </a:r>
          </a:p>
          <a:p>
            <a:pPr>
              <a:lnSpc>
                <a:spcPts val="1060"/>
              </a:lnSpc>
              <a:spcAft>
                <a:spcPts val="0"/>
              </a:spcAft>
            </a:pPr>
            <a:r>
              <a:rPr sz="850" b="0">
                <a:solidFill>
                  <a:srgbClr val="E6EDF3"/>
                </a:solidFill>
                <a:latin typeface="Segoe UI"/>
              </a:rPr>
              <a:t>Walk Group 30/40 for values and Group 12/41 for controls. IIN Object-unknown and Parameter-error tell you exactly where the map ends. Group 80 hands you the outstation's own indications.</a:t>
            </a:r>
          </a:p>
          <a:p>
            <a:pPr>
              <a:lnSpc>
                <a:spcPts val="1060"/>
              </a:lnSpc>
              <a:spcAft>
                <a:spcPts val="0"/>
              </a:spcAft>
            </a:pPr>
            <a:r>
              <a:rPr sz="350" b="0">
                <a:solidFill>
                  <a:srgbClr val="E6EDF3"/>
                </a:solidFill>
                <a:latin typeface="Segoe UI"/>
              </a:rPr>
              <a:t> </a:t>
            </a:r>
          </a:p>
          <a:p>
            <a:pPr>
              <a:lnSpc>
                <a:spcPts val="1060"/>
              </a:lnSpc>
              <a:spcAft>
                <a:spcPts val="0"/>
              </a:spcAft>
            </a:pPr>
            <a:r>
              <a:rPr sz="900" b="1">
                <a:solidFill>
                  <a:srgbClr val="FF4D5E"/>
                </a:solidFill>
                <a:latin typeface="Segoe UI"/>
              </a:rPr>
              <a:t>4  ARM</a:t>
            </a:r>
          </a:p>
          <a:p>
            <a:pPr>
              <a:lnSpc>
                <a:spcPts val="1060"/>
              </a:lnSpc>
              <a:spcAft>
                <a:spcPts val="0"/>
              </a:spcAft>
            </a:pPr>
            <a:r>
              <a:rPr sz="850" b="0">
                <a:solidFill>
                  <a:srgbClr val="E6EDF3"/>
                </a:solidFill>
                <a:latin typeface="Segoe UI"/>
              </a:rPr>
              <a:t>FC 3 Select against a control point — and stop. A confirmed Select proves the point is real and armable and moves nothing physical. Select-without-Operate is control-point enumeration, and it is invisible to anything watching only for Operate.</a:t>
            </a:r>
          </a:p>
          <a:p>
            <a:pPr>
              <a:lnSpc>
                <a:spcPts val="1060"/>
              </a:lnSpc>
              <a:spcAft>
                <a:spcPts val="0"/>
              </a:spcAft>
            </a:pPr>
            <a:r>
              <a:rPr sz="350" b="0">
                <a:solidFill>
                  <a:srgbClr val="E6EDF3"/>
                </a:solidFill>
                <a:latin typeface="Segoe UI"/>
              </a:rPr>
              <a:t> </a:t>
            </a:r>
          </a:p>
          <a:p>
            <a:pPr>
              <a:lnSpc>
                <a:spcPts val="1060"/>
              </a:lnSpc>
              <a:spcAft>
                <a:spcPts val="0"/>
              </a:spcAft>
            </a:pPr>
            <a:r>
              <a:rPr sz="900" b="1">
                <a:solidFill>
                  <a:srgbClr val="FF4D5E"/>
                </a:solidFill>
                <a:latin typeface="Segoe UI"/>
              </a:rPr>
              <a:t>5  MANIPULATE</a:t>
            </a:r>
          </a:p>
          <a:p>
            <a:pPr>
              <a:lnSpc>
                <a:spcPts val="1060"/>
              </a:lnSpc>
              <a:spcAft>
                <a:spcPts val="0"/>
              </a:spcAft>
            </a:pPr>
            <a:r>
              <a:rPr sz="850" b="0">
                <a:solidFill>
                  <a:srgbClr val="E6EDF3"/>
                </a:solidFill>
                <a:latin typeface="Segoe UI"/>
              </a:rPr>
              <a:t>FC 4 Operate fires the armed point; FC 5/6 Direct Operate skips the Select entirely. CROB control code 0x81 trips, 0x41 closes. FC 2 Write moves analog setpoints and the clock. Aim any of it at link address 0xFFFD–0xFFFF and it lands on every outstation at once.</a:t>
            </a:r>
          </a:p>
          <a:p>
            <a:pPr>
              <a:lnSpc>
                <a:spcPts val="1060"/>
              </a:lnSpc>
              <a:spcAft>
                <a:spcPts val="0"/>
              </a:spcAft>
            </a:pPr>
            <a:r>
              <a:rPr sz="350" b="0">
                <a:solidFill>
                  <a:srgbClr val="E6EDF3"/>
                </a:solidFill>
                <a:latin typeface="Segoe UI"/>
              </a:rPr>
              <a:t> </a:t>
            </a:r>
          </a:p>
          <a:p>
            <a:pPr>
              <a:lnSpc>
                <a:spcPts val="1060"/>
              </a:lnSpc>
              <a:spcAft>
                <a:spcPts val="0"/>
              </a:spcAft>
            </a:pPr>
            <a:r>
              <a:rPr sz="900" b="1">
                <a:solidFill>
                  <a:srgbClr val="FF4D5E"/>
                </a:solidFill>
                <a:latin typeface="Segoe UI"/>
              </a:rPr>
              <a:t>6  BLIND &amp; COVER</a:t>
            </a:r>
          </a:p>
          <a:p>
            <a:pPr>
              <a:lnSpc>
                <a:spcPts val="1060"/>
              </a:lnSpc>
              <a:spcAft>
                <a:spcPts val="0"/>
              </a:spcAft>
            </a:pPr>
            <a:r>
              <a:rPr sz="850" b="0">
                <a:solidFill>
                  <a:srgbClr val="E6EDF3"/>
                </a:solidFill>
                <a:latin typeface="Segoe UI"/>
              </a:rPr>
              <a:t>FC 21 Disable Unsolicited stops event reporting and the master keeps its last picture. FC 9/10 Freeze-and-Clear wipes the accumulators. FC 13/14 restart the device, FC 18 stops the application, FC 25–30 move files off it.</a:t>
            </a:r>
          </a:p>
          <a:p>
            <a:pPr>
              <a:lnSpc>
                <a:spcPts val="1060"/>
              </a:lnSpc>
              <a:spcAft>
                <a:spcPts val="0"/>
              </a:spcAft>
            </a:pPr>
            <a:r>
              <a:rPr sz="350" b="0">
                <a:solidFill>
                  <a:srgbClr val="E6EDF3"/>
                </a:solidFill>
                <a:latin typeface="Segoe UI"/>
              </a:rPr>
              <a:t> </a:t>
            </a:r>
          </a:p>
        </p:txBody>
      </p:sp>
      <p:sp>
        <p:nvSpPr>
          <p:cNvPr id="59" name="Rectangle 58"/>
          <p:cNvSpPr/>
          <p:nvPr/>
        </p:nvSpPr>
        <p:spPr>
          <a:xfrm>
            <a:off x="612648" y="16276320"/>
            <a:ext cx="7324344" cy="713232"/>
          </a:xfrm>
          <a:prstGeom prst="rect">
            <a:avLst/>
          </a:prstGeom>
          <a:solidFill>
            <a:srgbClr val="19202C"/>
          </a:solidFill>
          <a:ln w="12700">
            <a:solidFill>
              <a:srgbClr val="FF4D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740664" y="16340328"/>
            <a:ext cx="7068312" cy="585216"/>
          </a:xfrm>
          <a:prstGeom prst="rect">
            <a:avLst/>
          </a:prstGeom>
          <a:noFill/>
        </p:spPr>
        <p:txBody>
          <a:bodyPr wrap="square" lIns="0" rIns="0" tIns="0" bIns="0">
            <a:spAutoFit/>
          </a:bodyPr>
          <a:lstStyle/>
          <a:p>
            <a:pPr>
              <a:lnSpc>
                <a:spcPts val="1150"/>
              </a:lnSpc>
            </a:pPr>
            <a:r>
              <a:rPr sz="950" b="1">
                <a:solidFill>
                  <a:srgbClr val="FF4D5E"/>
                </a:solidFill>
                <a:latin typeface="Segoe UI"/>
              </a:rPr>
              <a:t>WHY IT WORKS</a:t>
            </a:r>
          </a:p>
          <a:p>
            <a:pPr>
              <a:lnSpc>
                <a:spcPts val="1019"/>
              </a:lnSpc>
            </a:pPr>
            <a:r>
              <a:rPr sz="850" b="0">
                <a:solidFill>
                  <a:srgbClr val="E6EDF3"/>
                </a:solidFill>
                <a:latin typeface="Segoe UI"/>
              </a:rPr>
              <a:t>No authentication, no encryption, no message integrity in the base protocol. Select-Before-Operate is an interlock against a mis-click, not an authorisation step — and Direct Operate is in the same specification. SAv5 exists, is optional, and is frequently scoped to a subset of function codes on a subset of devices.</a:t>
            </a:r>
          </a:p>
        </p:txBody>
      </p:sp>
      <p:sp>
        <p:nvSpPr>
          <p:cNvPr id="61" name="Rectangle 60"/>
          <p:cNvSpPr/>
          <p:nvPr/>
        </p:nvSpPr>
        <p:spPr>
          <a:xfrm>
            <a:off x="8321040" y="12216384"/>
            <a:ext cx="7726679" cy="4828032"/>
          </a:xfrm>
          <a:prstGeom prst="rect">
            <a:avLst/>
          </a:prstGeom>
          <a:solidFill>
            <a:srgbClr val="131822"/>
          </a:solidFill>
          <a:ln w="12700">
            <a:solidFill>
              <a:srgbClr val="2A33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8321040" y="12216384"/>
            <a:ext cx="7726679" cy="3657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8321040" y="12216384"/>
            <a:ext cx="54864" cy="4828032"/>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8476488" y="12262104"/>
            <a:ext cx="7415783" cy="274320"/>
          </a:xfrm>
          <a:prstGeom prst="rect">
            <a:avLst/>
          </a:prstGeom>
          <a:noFill/>
        </p:spPr>
        <p:txBody>
          <a:bodyPr wrap="square" lIns="0" rIns="0" tIns="0" bIns="0">
            <a:spAutoFit/>
          </a:bodyPr>
          <a:lstStyle/>
          <a:p>
            <a:r>
              <a:rPr sz="1350" b="1">
                <a:solidFill>
                  <a:srgbClr val="0B0E14"/>
                </a:solidFill>
                <a:latin typeface="Segoe UI"/>
              </a:rPr>
              <a:t>7  </a:t>
            </a:r>
            <a:r>
              <a:rPr sz="1350" b="1">
                <a:solidFill>
                  <a:srgbClr val="0B0E14"/>
                </a:solidFill>
                <a:latin typeface="Segoe UI"/>
              </a:rPr>
              <a:t>DEFENDER PLAYBOOK</a:t>
            </a:r>
            <a:r>
              <a:rPr sz="1000" b="0">
                <a:solidFill>
                  <a:srgbClr val="0B0E14"/>
                </a:solidFill>
                <a:latin typeface="Segoe UI"/>
              </a:rPr>
              <a:t>     capture → parse → triage</a:t>
            </a:r>
          </a:p>
        </p:txBody>
      </p:sp>
      <p:sp>
        <p:nvSpPr>
          <p:cNvPr id="65" name="TextBox 64"/>
          <p:cNvSpPr txBox="1"/>
          <p:nvPr/>
        </p:nvSpPr>
        <p:spPr>
          <a:xfrm>
            <a:off x="8522208" y="12691872"/>
            <a:ext cx="7324344" cy="2286000"/>
          </a:xfrm>
          <a:prstGeom prst="rect">
            <a:avLst/>
          </a:prstGeom>
          <a:noFill/>
        </p:spPr>
        <p:txBody>
          <a:bodyPr wrap="square" lIns="0" rIns="0" tIns="0" bIns="0">
            <a:spAutoFit/>
          </a:bodyPr>
          <a:lstStyle/>
          <a:p>
            <a:pPr>
              <a:lnSpc>
                <a:spcPts val="1060"/>
              </a:lnSpc>
              <a:spcAft>
                <a:spcPts val="0"/>
              </a:spcAft>
            </a:pPr>
            <a:r>
              <a:rPr sz="1000" b="1">
                <a:solidFill>
                  <a:srgbClr val="3DDC97"/>
                </a:solidFill>
                <a:latin typeface="Segoe UI"/>
              </a:rPr>
              <a:t>CAPTURE</a:t>
            </a:r>
          </a:p>
          <a:p>
            <a:pPr>
              <a:lnSpc>
                <a:spcPts val="1060"/>
              </a:lnSpc>
              <a:spcAft>
                <a:spcPts val="0"/>
              </a:spcAft>
            </a:pPr>
            <a:r>
              <a:rPr sz="900" b="1">
                <a:solidFill>
                  <a:srgbClr val="22D3EE"/>
                </a:solidFill>
                <a:latin typeface="Consolas"/>
              </a:rPr>
              <a:t>bpf: tcp port 20000</a:t>
            </a:r>
            <a:r>
              <a:rPr sz="900" b="0">
                <a:solidFill>
                  <a:srgbClr val="8FA1B8"/>
                </a:solidFill>
                <a:latin typeface="Consolas"/>
              </a:rPr>
              <a:t>        trunk: (port 20000) or (vlan and port 20000)</a:t>
            </a:r>
          </a:p>
          <a:p>
            <a:pPr>
              <a:lnSpc>
                <a:spcPts val="1060"/>
              </a:lnSpc>
              <a:spcAft>
                <a:spcPts val="0"/>
              </a:spcAft>
            </a:pPr>
            <a:r>
              <a:rPr sz="850" b="0">
                <a:solidFill>
                  <a:srgbClr val="E6EDF3"/>
                </a:solidFill>
                <a:latin typeface="Segoe UI"/>
              </a:rPr>
              <a:t>Tap the control-LAN / RTU switch. A 20-outstation substation with integrity polls and Class 1 events runs ~10–50 MB/min. Include udp/20000 and the serial-gateway port.</a:t>
            </a:r>
          </a:p>
          <a:p>
            <a:pPr>
              <a:lnSpc>
                <a:spcPts val="1060"/>
              </a:lnSpc>
              <a:spcAft>
                <a:spcPts val="0"/>
              </a:spcAft>
            </a:pPr>
            <a:r>
              <a:rPr sz="350" b="0">
                <a:solidFill>
                  <a:srgbClr val="E6EDF3"/>
                </a:solidFill>
                <a:latin typeface="Segoe UI"/>
              </a:rPr>
              <a:t> </a:t>
            </a:r>
          </a:p>
          <a:p>
            <a:pPr>
              <a:lnSpc>
                <a:spcPts val="1060"/>
              </a:lnSpc>
              <a:spcAft>
                <a:spcPts val="0"/>
              </a:spcAft>
            </a:pPr>
            <a:r>
              <a:rPr sz="1000" b="1">
                <a:solidFill>
                  <a:srgbClr val="3DDC97"/>
                </a:solidFill>
                <a:latin typeface="Segoe UI"/>
              </a:rPr>
              <a:t>ZEEK — ICSNPP-DNP3</a:t>
            </a:r>
          </a:p>
          <a:p>
            <a:pPr>
              <a:lnSpc>
                <a:spcPts val="1060"/>
              </a:lnSpc>
              <a:spcAft>
                <a:spcPts val="0"/>
              </a:spcAft>
            </a:pPr>
            <a:r>
              <a:rPr sz="900" b="1">
                <a:solidFill>
                  <a:srgbClr val="22D3EE"/>
                </a:solidFill>
                <a:latin typeface="Consolas"/>
              </a:rPr>
              <a:t>dnp3.log  ·  dnp3_control.log  ·  dnp3_objects.log</a:t>
            </a:r>
          </a:p>
          <a:p>
            <a:pPr>
              <a:lnSpc>
                <a:spcPts val="1060"/>
              </a:lnSpc>
              <a:spcAft>
                <a:spcPts val="0"/>
              </a:spcAft>
            </a:pPr>
            <a:r>
              <a:rPr sz="850" b="1">
                <a:solidFill>
                  <a:srgbClr val="E6EDF3"/>
                </a:solidFill>
                <a:latin typeface="Consolas"/>
              </a:rPr>
              <a:t>fc_request, fc_reply, iin, dnp3_src, dnp3_dst</a:t>
            </a:r>
            <a:r>
              <a:rPr sz="850" b="0">
                <a:solidFill>
                  <a:srgbClr val="8FA1B8"/>
                </a:solidFill>
                <a:latin typeface="Segoe UI"/>
              </a:rPr>
              <a:t> — the control log decodes the CROB to trip/close with on/off time; the objects log gives group, variation, qualifier and range.</a:t>
            </a:r>
          </a:p>
          <a:p>
            <a:pPr>
              <a:lnSpc>
                <a:spcPts val="1060"/>
              </a:lnSpc>
              <a:spcAft>
                <a:spcPts val="0"/>
              </a:spcAft>
            </a:pPr>
            <a:r>
              <a:rPr sz="350" b="0">
                <a:solidFill>
                  <a:srgbClr val="E6EDF3"/>
                </a:solidFill>
                <a:latin typeface="Segoe UI"/>
              </a:rPr>
              <a:t> </a:t>
            </a:r>
          </a:p>
          <a:p>
            <a:pPr>
              <a:lnSpc>
                <a:spcPts val="1060"/>
              </a:lnSpc>
              <a:spcAft>
                <a:spcPts val="0"/>
              </a:spcAft>
            </a:pPr>
            <a:r>
              <a:rPr sz="1000" b="1">
                <a:solidFill>
                  <a:srgbClr val="3DDC97"/>
                </a:solidFill>
                <a:latin typeface="Segoe UI"/>
              </a:rPr>
              <a:t>SURICATA / SNORT 3 — native dnp3 inspector</a:t>
            </a:r>
          </a:p>
          <a:p>
            <a:pPr>
              <a:lnSpc>
                <a:spcPts val="1060"/>
              </a:lnSpc>
              <a:spcAft>
                <a:spcPts val="0"/>
              </a:spcAft>
            </a:pPr>
            <a:r>
              <a:rPr sz="900" b="1">
                <a:solidFill>
                  <a:srgbClr val="22D3EE"/>
                </a:solidFill>
                <a:latin typeface="Consolas"/>
              </a:rPr>
              <a:t>dnp3_func:operate;   dnp3_func:direct_operate;   dnp3_func:cold_restart;</a:t>
            </a:r>
          </a:p>
          <a:p>
            <a:pPr>
              <a:lnSpc>
                <a:spcPts val="1060"/>
              </a:lnSpc>
              <a:spcAft>
                <a:spcPts val="0"/>
              </a:spcAft>
            </a:pPr>
            <a:r>
              <a:rPr sz="900" b="1">
                <a:solidFill>
                  <a:srgbClr val="22D3EE"/>
                </a:solidFill>
                <a:latin typeface="Consolas"/>
              </a:rPr>
              <a:t>dnp3_ind:device_restart;   dnp3_obj:12,1;   dnp3_data;</a:t>
            </a:r>
            <a:r>
              <a:rPr sz="850" b="0">
                <a:solidFill>
                  <a:srgbClr val="8FA1B8"/>
                </a:solidFill>
                <a:latin typeface="Segoe UI"/>
              </a:rPr>
              <a:t>  ← CRC-stripped</a:t>
            </a:r>
          </a:p>
          <a:p>
            <a:pPr>
              <a:lnSpc>
                <a:spcPts val="1060"/>
              </a:lnSpc>
              <a:spcAft>
                <a:spcPts val="0"/>
              </a:spcAft>
            </a:pPr>
            <a:r>
              <a:rPr sz="350" b="0">
                <a:solidFill>
                  <a:srgbClr val="E6EDF3"/>
                </a:solidFill>
                <a:latin typeface="Segoe UI"/>
              </a:rPr>
              <a:t> </a:t>
            </a:r>
          </a:p>
          <a:p>
            <a:pPr>
              <a:lnSpc>
                <a:spcPts val="1060"/>
              </a:lnSpc>
              <a:spcAft>
                <a:spcPts val="0"/>
              </a:spcAft>
            </a:pPr>
            <a:r>
              <a:rPr sz="1000" b="1">
                <a:solidFill>
                  <a:srgbClr val="3DDC97"/>
                </a:solidFill>
                <a:latin typeface="Segoe UI"/>
              </a:rPr>
              <a:t>WIRESHARK</a:t>
            </a:r>
          </a:p>
          <a:p>
            <a:pPr>
              <a:lnSpc>
                <a:spcPts val="1060"/>
              </a:lnSpc>
              <a:spcAft>
                <a:spcPts val="0"/>
              </a:spcAft>
            </a:pPr>
            <a:r>
              <a:rPr sz="900" b="1">
                <a:solidFill>
                  <a:srgbClr val="22D3EE"/>
                </a:solidFill>
                <a:latin typeface="Consolas"/>
              </a:rPr>
              <a:t>dnp3.al.func in {3 4 5 6}   dnp3.al.func in {13 14 18 21}</a:t>
            </a:r>
          </a:p>
          <a:p>
            <a:pPr>
              <a:lnSpc>
                <a:spcPts val="1060"/>
              </a:lnSpc>
              <a:spcAft>
                <a:spcPts val="0"/>
              </a:spcAft>
            </a:pPr>
            <a:r>
              <a:rPr sz="900" b="1">
                <a:solidFill>
                  <a:srgbClr val="22D3EE"/>
                </a:solidFill>
                <a:latin typeface="Consolas"/>
              </a:rPr>
              <a:t>dnp3.al.iin.dr    dnp3.src / dnp3.dst    dnp3.al.obj == 0x0c01</a:t>
            </a:r>
          </a:p>
        </p:txBody>
      </p:sp>
      <p:sp>
        <p:nvSpPr>
          <p:cNvPr id="66" name="Rectangle 65"/>
          <p:cNvSpPr/>
          <p:nvPr/>
        </p:nvSpPr>
        <p:spPr>
          <a:xfrm>
            <a:off x="8522208" y="15051024"/>
            <a:ext cx="7324344" cy="859536"/>
          </a:xfrm>
          <a:prstGeom prst="rect">
            <a:avLst/>
          </a:prstGeom>
          <a:solidFill>
            <a:srgbClr val="19202C"/>
          </a:solidFill>
          <a:ln w="12700">
            <a:solidFill>
              <a:srgbClr val="2A33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8650224" y="15115032"/>
            <a:ext cx="7068312" cy="731520"/>
          </a:xfrm>
          <a:prstGeom prst="rect">
            <a:avLst/>
          </a:prstGeom>
          <a:noFill/>
        </p:spPr>
        <p:txBody>
          <a:bodyPr wrap="square" lIns="0" rIns="0" tIns="0" bIns="0">
            <a:spAutoFit/>
          </a:bodyPr>
          <a:lstStyle/>
          <a:p>
            <a:pPr>
              <a:lnSpc>
                <a:spcPts val="960"/>
              </a:lnSpc>
              <a:spcAft>
                <a:spcPts val="0"/>
              </a:spcAft>
            </a:pPr>
            <a:r>
              <a:rPr sz="950" b="1">
                <a:solidFill>
                  <a:srgbClr val="E6EDF3"/>
                </a:solidFill>
                <a:latin typeface="Segoe UI"/>
              </a:rPr>
              <a:t>TRIAGE — FIVE QUESTIONS, IN ORDER</a:t>
            </a:r>
          </a:p>
          <a:p>
            <a:pPr>
              <a:lnSpc>
                <a:spcPts val="960"/>
              </a:lnSpc>
              <a:spcAft>
                <a:spcPts val="0"/>
              </a:spcAft>
            </a:pPr>
            <a:r>
              <a:rPr sz="850" b="0">
                <a:solidFill>
                  <a:srgbClr val="E6EDF3"/>
                </a:solidFill>
                <a:latin typeface="Segoe UI"/>
              </a:rPr>
              <a:t>1  Is it a control, restart or config op?   (2/3/4/5/6 · 13/14/18 · 15/16/19/31 · 21 · 25–30)</a:t>
            </a:r>
          </a:p>
          <a:p>
            <a:pPr>
              <a:lnSpc>
                <a:spcPts val="960"/>
              </a:lnSpc>
              <a:spcAft>
                <a:spcPts val="0"/>
              </a:spcAft>
            </a:pPr>
            <a:r>
              <a:rPr sz="850" b="0">
                <a:solidFill>
                  <a:srgbClr val="E6EDF3"/>
                </a:solidFill>
                <a:latin typeface="Segoe UI"/>
              </a:rPr>
              <a:t>2  From the authorised master?  Check the source IP </a:t>
            </a:r>
            <a:r>
              <a:rPr sz="850" b="1">
                <a:solidFill>
                  <a:srgbClr val="FF8A3D"/>
                </a:solidFill>
                <a:latin typeface="Segoe UI"/>
              </a:rPr>
              <a:t>and</a:t>
            </a:r>
            <a:r>
              <a:rPr sz="850" b="0">
                <a:solidFill>
                  <a:srgbClr val="E6EDF3"/>
                </a:solidFill>
                <a:latin typeface="Segoe UI"/>
              </a:rPr>
              <a:t> the source link address, as a pair.</a:t>
            </a:r>
          </a:p>
          <a:p>
            <a:pPr>
              <a:lnSpc>
                <a:spcPts val="960"/>
              </a:lnSpc>
              <a:spcAft>
                <a:spcPts val="0"/>
              </a:spcAft>
            </a:pPr>
            <a:r>
              <a:rPr sz="850" b="0">
                <a:solidFill>
                  <a:srgbClr val="E6EDF3"/>
                </a:solidFill>
                <a:latin typeface="Segoe UI"/>
              </a:rPr>
              <a:t>3  Inside a change window, against a work order?    4  Did an Operate follow a Select to the same point?</a:t>
            </a:r>
          </a:p>
          <a:p>
            <a:pPr>
              <a:lnSpc>
                <a:spcPts val="960"/>
              </a:lnSpc>
              <a:spcAft>
                <a:spcPts val="0"/>
              </a:spcAft>
            </a:pPr>
            <a:r>
              <a:rPr sz="850" b="0">
                <a:solidFill>
                  <a:srgbClr val="E6EDF3"/>
                </a:solidFill>
                <a:latin typeface="Segoe UI"/>
              </a:rPr>
              <a:t>5  Broadcast address, or IIN Device Restart / Config Corrupt?  → confirmed.   </a:t>
            </a:r>
            <a:r>
              <a:rPr sz="850" b="1">
                <a:solidFill>
                  <a:srgbClr val="FF4D5E"/>
                </a:solidFill>
                <a:latin typeface="Segoe UI"/>
              </a:rPr>
              <a:t>Non-master control or bypassed SBO → ESCALATE.</a:t>
            </a:r>
          </a:p>
        </p:txBody>
      </p:sp>
      <p:sp>
        <p:nvSpPr>
          <p:cNvPr id="68" name="Rectangle 67"/>
          <p:cNvSpPr/>
          <p:nvPr/>
        </p:nvSpPr>
        <p:spPr>
          <a:xfrm>
            <a:off x="8522208" y="15983712"/>
            <a:ext cx="7324344" cy="969264"/>
          </a:xfrm>
          <a:prstGeom prst="rect">
            <a:avLst/>
          </a:prstGeom>
          <a:solidFill>
            <a:srgbClr val="19202C"/>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8650224" y="16047720"/>
            <a:ext cx="7068312" cy="841248"/>
          </a:xfrm>
          <a:prstGeom prst="rect">
            <a:avLst/>
          </a:prstGeom>
          <a:noFill/>
        </p:spPr>
        <p:txBody>
          <a:bodyPr wrap="square" lIns="0" rIns="0" tIns="0" bIns="0">
            <a:spAutoFit/>
          </a:bodyPr>
          <a:lstStyle/>
          <a:p>
            <a:pPr>
              <a:lnSpc>
                <a:spcPts val="1150"/>
              </a:lnSpc>
            </a:pPr>
            <a:r>
              <a:rPr sz="950" b="1">
                <a:solidFill>
                  <a:srgbClr val="FFB020"/>
                </a:solidFill>
                <a:latin typeface="Segoe UI"/>
              </a:rPr>
              <a:t>★  THE HIGHEST-VALUE QUERY IN OT</a:t>
            </a:r>
          </a:p>
          <a:p>
            <a:pPr>
              <a:lnSpc>
                <a:spcPts val="1019"/>
              </a:lnSpc>
            </a:pPr>
            <a:r>
              <a:rPr sz="900" b="1">
                <a:solidFill>
                  <a:srgbClr val="E6EDF3"/>
                </a:solidFill>
                <a:latin typeface="Segoe UI"/>
              </a:rPr>
              <a:t>Every DNP3 function code on the network that is not 1, 129 or 130.</a:t>
            </a:r>
          </a:p>
          <a:p>
            <a:pPr>
              <a:lnSpc>
                <a:spcPts val="1019"/>
              </a:lnSpc>
            </a:pPr>
            <a:r>
              <a:rPr sz="850" b="0">
                <a:solidFill>
                  <a:srgbClr val="E6EDF3"/>
                </a:solidFill>
                <a:latin typeface="Segoe UI"/>
              </a:rPr>
              <a:t>Read, Response and Unsolicited Response are almost all of a healthy network — telemetry is polling, and polling is boring. Everything left over is the entire control plane, and on most utilities a month of it is short enough to read by eye and put a work order against every line.</a:t>
            </a:r>
          </a:p>
          <a:p>
            <a:pPr>
              <a:lnSpc>
                <a:spcPts val="1019"/>
              </a:lnSpc>
            </a:pPr>
            <a:r>
              <a:rPr sz="850" b="1">
                <a:solidFill>
                  <a:srgbClr val="FFB020"/>
                </a:solidFill>
                <a:latin typeface="Segoe UI"/>
              </a:rPr>
              <a:t>If the list is too long to read, that is the finding — and detection is not the first job. Working out why your control plane is that noisy is.</a:t>
            </a:r>
          </a:p>
        </p:txBody>
      </p:sp>
      <p:sp>
        <p:nvSpPr>
          <p:cNvPr id="70" name="Rectangle 69"/>
          <p:cNvSpPr/>
          <p:nvPr/>
        </p:nvSpPr>
        <p:spPr>
          <a:xfrm>
            <a:off x="411480" y="17190720"/>
            <a:ext cx="4892040" cy="3310128"/>
          </a:xfrm>
          <a:prstGeom prst="rect">
            <a:avLst/>
          </a:prstGeom>
          <a:solidFill>
            <a:srgbClr val="131822"/>
          </a:solidFill>
          <a:ln w="12700">
            <a:solidFill>
              <a:srgbClr val="2A33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411480" y="17190720"/>
            <a:ext cx="4892040" cy="36576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411480" y="17190720"/>
            <a:ext cx="54864" cy="3310128"/>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566928" y="17236440"/>
            <a:ext cx="4581144" cy="274320"/>
          </a:xfrm>
          <a:prstGeom prst="rect">
            <a:avLst/>
          </a:prstGeom>
          <a:noFill/>
        </p:spPr>
        <p:txBody>
          <a:bodyPr wrap="square" lIns="0" rIns="0" tIns="0" bIns="0">
            <a:spAutoFit/>
          </a:bodyPr>
          <a:lstStyle/>
          <a:p>
            <a:r>
              <a:rPr sz="1350" b="1">
                <a:solidFill>
                  <a:srgbClr val="0B0E14"/>
                </a:solidFill>
                <a:latin typeface="Segoe UI"/>
              </a:rPr>
              <a:t>8  </a:t>
            </a:r>
            <a:r>
              <a:rPr sz="1350" b="1">
                <a:solidFill>
                  <a:srgbClr val="0B0E14"/>
                </a:solidFill>
                <a:latin typeface="Segoe UI"/>
              </a:rPr>
              <a:t>NORMAL vs SUSPICIOUS</a:t>
            </a:r>
          </a:p>
        </p:txBody>
      </p:sp>
      <p:sp>
        <p:nvSpPr>
          <p:cNvPr id="74" name="TextBox 73"/>
          <p:cNvSpPr txBox="1"/>
          <p:nvPr/>
        </p:nvSpPr>
        <p:spPr>
          <a:xfrm>
            <a:off x="612648" y="17666208"/>
            <a:ext cx="4489704" cy="2743200"/>
          </a:xfrm>
          <a:prstGeom prst="rect">
            <a:avLst/>
          </a:prstGeom>
          <a:noFill/>
        </p:spPr>
        <p:txBody>
          <a:bodyPr wrap="square" lIns="0" rIns="0" tIns="0" bIns="0">
            <a:spAutoFit/>
          </a:bodyPr>
          <a:lstStyle/>
          <a:p>
            <a:pPr>
              <a:lnSpc>
                <a:spcPts val="990"/>
              </a:lnSpc>
              <a:spcAft>
                <a:spcPts val="0"/>
              </a:spcAft>
            </a:pPr>
            <a:r>
              <a:rPr sz="1000" b="1">
                <a:solidFill>
                  <a:srgbClr val="3DDC97"/>
                </a:solidFill>
                <a:latin typeface="Segoe UI"/>
              </a:rPr>
              <a:t>NORMAL</a:t>
            </a:r>
          </a:p>
          <a:p>
            <a:pPr>
              <a:lnSpc>
                <a:spcPts val="990"/>
              </a:lnSpc>
              <a:spcAft>
                <a:spcPts val="0"/>
              </a:spcAft>
            </a:pPr>
            <a:r>
              <a:rPr sz="850" b="0">
                <a:solidFill>
                  <a:srgbClr val="E6EDF3"/>
                </a:solidFill>
                <a:latin typeface="Segoe UI"/>
              </a:rPr>
              <a:t>·  one master, or a few redundant ones, to a fixed outstation set</a:t>
            </a:r>
          </a:p>
          <a:p>
            <a:pPr>
              <a:lnSpc>
                <a:spcPts val="990"/>
              </a:lnSpc>
              <a:spcAft>
                <a:spcPts val="0"/>
              </a:spcAft>
            </a:pPr>
            <a:r>
              <a:rPr sz="850" b="0">
                <a:solidFill>
                  <a:srgbClr val="E6EDF3"/>
                </a:solidFill>
                <a:latin typeface="Segoe UI"/>
              </a:rPr>
              <a:t>·  FC 1 Read + FC 129 Response at a steady poll cadence</a:t>
            </a:r>
          </a:p>
          <a:p>
            <a:pPr>
              <a:lnSpc>
                <a:spcPts val="990"/>
              </a:lnSpc>
              <a:spcAft>
                <a:spcPts val="0"/>
              </a:spcAft>
            </a:pPr>
            <a:r>
              <a:rPr sz="850" b="0">
                <a:solidFill>
                  <a:srgbClr val="E6EDF3"/>
                </a:solidFill>
                <a:latin typeface="Segoe UI"/>
              </a:rPr>
              <a:t>·  FC 130 Unsolicited only where it was explicitly enabled</a:t>
            </a:r>
          </a:p>
          <a:p>
            <a:pPr>
              <a:lnSpc>
                <a:spcPts val="990"/>
              </a:lnSpc>
              <a:spcAft>
                <a:spcPts val="0"/>
              </a:spcAft>
            </a:pPr>
            <a:r>
              <a:rPr sz="850" b="0">
                <a:solidFill>
                  <a:srgbClr val="E6EDF3"/>
                </a:solidFill>
                <a:latin typeface="Segoe UI"/>
              </a:rPr>
              <a:t>·  periodic FC 23 / 24 time sync from the master</a:t>
            </a:r>
          </a:p>
          <a:p>
            <a:pPr>
              <a:lnSpc>
                <a:spcPts val="990"/>
              </a:lnSpc>
              <a:spcAft>
                <a:spcPts val="0"/>
              </a:spcAft>
            </a:pPr>
            <a:r>
              <a:rPr sz="850" b="0">
                <a:solidFill>
                  <a:srgbClr val="E6EDF3"/>
                </a:solidFill>
                <a:latin typeface="Segoe UI"/>
              </a:rPr>
              <a:t>·  stable IP ↔ DNP3 link-address bindings, per device</a:t>
            </a:r>
          </a:p>
          <a:p>
            <a:pPr>
              <a:lnSpc>
                <a:spcPts val="990"/>
              </a:lnSpc>
              <a:spcAft>
                <a:spcPts val="0"/>
              </a:spcAft>
            </a:pPr>
            <a:r>
              <a:rPr sz="850" b="0">
                <a:solidFill>
                  <a:srgbClr val="E6EDF3"/>
                </a:solidFill>
                <a:latin typeface="Segoe UI"/>
              </a:rPr>
              <a:t>·  control (3 → 4) rare, in hours, operator-initiated, from the master</a:t>
            </a:r>
          </a:p>
          <a:p>
            <a:pPr>
              <a:lnSpc>
                <a:spcPts val="990"/>
              </a:lnSpc>
              <a:spcAft>
                <a:spcPts val="0"/>
              </a:spcAft>
            </a:pPr>
            <a:r>
              <a:rPr sz="850" b="0">
                <a:solidFill>
                  <a:srgbClr val="E6EDF3"/>
                </a:solidFill>
                <a:latin typeface="Segoe UI"/>
              </a:rPr>
              <a:t>·  IIN quiet — class-event bits and need-time, nothing else</a:t>
            </a:r>
          </a:p>
          <a:p>
            <a:pPr>
              <a:lnSpc>
                <a:spcPts val="990"/>
              </a:lnSpc>
              <a:spcAft>
                <a:spcPts val="0"/>
              </a:spcAft>
            </a:pPr>
            <a:r>
              <a:rPr sz="350" b="0">
                <a:solidFill>
                  <a:srgbClr val="E6EDF3"/>
                </a:solidFill>
                <a:latin typeface="Segoe UI"/>
              </a:rPr>
              <a:t> </a:t>
            </a:r>
          </a:p>
          <a:p>
            <a:pPr>
              <a:lnSpc>
                <a:spcPts val="990"/>
              </a:lnSpc>
              <a:spcAft>
                <a:spcPts val="0"/>
              </a:spcAft>
            </a:pPr>
            <a:r>
              <a:rPr sz="1000" b="1">
                <a:solidFill>
                  <a:srgbClr val="FF4D5E"/>
                </a:solidFill>
                <a:latin typeface="Segoe UI"/>
              </a:rPr>
              <a:t>SUSPICIOUS</a:t>
            </a:r>
          </a:p>
          <a:p>
            <a:pPr>
              <a:lnSpc>
                <a:spcPts val="990"/>
              </a:lnSpc>
              <a:spcAft>
                <a:spcPts val="0"/>
              </a:spcAft>
            </a:pPr>
            <a:r>
              <a:rPr sz="850" b="1">
                <a:solidFill>
                  <a:srgbClr val="FF4D5E"/>
                </a:solidFill>
                <a:latin typeface="Segoe UI"/>
              </a:rPr>
              <a:t>·  control FC from a non-master IP or link address — the finding</a:t>
            </a:r>
          </a:p>
          <a:p>
            <a:pPr>
              <a:lnSpc>
                <a:spcPts val="990"/>
              </a:lnSpc>
              <a:spcAft>
                <a:spcPts val="0"/>
              </a:spcAft>
            </a:pPr>
            <a:r>
              <a:rPr sz="850" b="0">
                <a:solidFill>
                  <a:srgbClr val="E6EDF3"/>
                </a:solidFill>
                <a:latin typeface="Segoe UI"/>
              </a:rPr>
              <a:t>·  Operate with no preceding Select — SBO bypass, or a capture gap</a:t>
            </a:r>
          </a:p>
          <a:p>
            <a:pPr>
              <a:lnSpc>
                <a:spcPts val="990"/>
              </a:lnSpc>
              <a:spcAft>
                <a:spcPts val="0"/>
              </a:spcAft>
            </a:pPr>
            <a:r>
              <a:rPr sz="850" b="0">
                <a:solidFill>
                  <a:srgbClr val="E6EDF3"/>
                </a:solidFill>
                <a:latin typeface="Segoe UI"/>
              </a:rPr>
              <a:t>·  Select with no Operate — control-point enumeration</a:t>
            </a:r>
          </a:p>
          <a:p>
            <a:pPr>
              <a:lnSpc>
                <a:spcPts val="990"/>
              </a:lnSpc>
              <a:spcAft>
                <a:spcPts val="0"/>
              </a:spcAft>
            </a:pPr>
            <a:r>
              <a:rPr sz="850" b="0">
                <a:solidFill>
                  <a:srgbClr val="E6EDF3"/>
                </a:solidFill>
                <a:latin typeface="Segoe UI"/>
              </a:rPr>
              <a:t>·  Direct Operate 5 / 6 where the standard says Select-Before-Operate</a:t>
            </a:r>
          </a:p>
          <a:p>
            <a:pPr>
              <a:lnSpc>
                <a:spcPts val="990"/>
              </a:lnSpc>
              <a:spcAft>
                <a:spcPts val="0"/>
              </a:spcAft>
            </a:pPr>
            <a:r>
              <a:rPr sz="850" b="0">
                <a:solidFill>
                  <a:srgbClr val="E6EDF3"/>
                </a:solidFill>
                <a:latin typeface="Segoe UI"/>
              </a:rPr>
              <a:t>·  broadcast control to link address 0xFFFD–0xFFFF</a:t>
            </a:r>
          </a:p>
          <a:p>
            <a:pPr>
              <a:lnSpc>
                <a:spcPts val="990"/>
              </a:lnSpc>
              <a:spcAft>
                <a:spcPts val="0"/>
              </a:spcAft>
            </a:pPr>
            <a:r>
              <a:rPr sz="850" b="0">
                <a:solidFill>
                  <a:srgbClr val="E6EDF3"/>
                </a:solidFill>
                <a:latin typeface="Segoe UI"/>
              </a:rPr>
              <a:t>·  Disable Unsolicited, Cold/Warm Restart or Stop Application off-hours</a:t>
            </a:r>
          </a:p>
          <a:p>
            <a:pPr>
              <a:lnSpc>
                <a:spcPts val="990"/>
              </a:lnSpc>
              <a:spcAft>
                <a:spcPts val="0"/>
              </a:spcAft>
            </a:pPr>
            <a:r>
              <a:rPr sz="850" b="0">
                <a:solidFill>
                  <a:srgbClr val="E6EDF3"/>
                </a:solidFill>
                <a:latin typeface="Segoe UI"/>
              </a:rPr>
              <a:t>·  file operations 25–30 against a telemetry outstation</a:t>
            </a:r>
          </a:p>
          <a:p>
            <a:pPr>
              <a:lnSpc>
                <a:spcPts val="990"/>
              </a:lnSpc>
              <a:spcAft>
                <a:spcPts val="0"/>
              </a:spcAft>
            </a:pPr>
            <a:r>
              <a:rPr sz="850" b="0">
                <a:solidFill>
                  <a:srgbClr val="E6EDF3"/>
                </a:solidFill>
                <a:latin typeface="Segoe UI"/>
              </a:rPr>
              <a:t>·  IIN Device Restart or Configuration Corrupt appearing unbidden</a:t>
            </a:r>
          </a:p>
          <a:p>
            <a:pPr>
              <a:lnSpc>
                <a:spcPts val="990"/>
              </a:lnSpc>
              <a:spcAft>
                <a:spcPts val="0"/>
              </a:spcAft>
            </a:pPr>
            <a:r>
              <a:rPr sz="850" b="0">
                <a:solidFill>
                  <a:srgbClr val="E6EDF3"/>
                </a:solidFill>
                <a:latin typeface="Segoe UI"/>
              </a:rPr>
              <a:t>·  bursts of Object Unknown / Parameter Error / FC-not-supported</a:t>
            </a:r>
          </a:p>
          <a:p>
            <a:pPr>
              <a:lnSpc>
                <a:spcPts val="990"/>
              </a:lnSpc>
              <a:spcAft>
                <a:spcPts val="0"/>
              </a:spcAft>
            </a:pPr>
            <a:r>
              <a:rPr sz="850" b="0">
                <a:solidFill>
                  <a:srgbClr val="E6EDF3"/>
                </a:solidFill>
                <a:latin typeface="Segoe UI"/>
              </a:rPr>
              <a:t>·  one source touching many DNP3 destination link addresses</a:t>
            </a:r>
          </a:p>
          <a:p>
            <a:pPr>
              <a:lnSpc>
                <a:spcPts val="990"/>
              </a:lnSpc>
              <a:spcAft>
                <a:spcPts val="0"/>
              </a:spcAft>
            </a:pPr>
            <a:r>
              <a:rPr sz="850" b="0">
                <a:solidFill>
                  <a:srgbClr val="E6EDF3"/>
                </a:solidFill>
                <a:latin typeface="Segoe UI"/>
              </a:rPr>
              <a:t>·  DNP3 on a public IP, or on a non-standard port</a:t>
            </a:r>
          </a:p>
          <a:p>
            <a:pPr>
              <a:lnSpc>
                <a:spcPts val="990"/>
              </a:lnSpc>
              <a:spcAft>
                <a:spcPts val="0"/>
              </a:spcAft>
            </a:pPr>
            <a:r>
              <a:rPr sz="850" b="0">
                <a:solidFill>
                  <a:srgbClr val="E6EDF3"/>
                </a:solidFill>
                <a:latin typeface="Segoe UI"/>
              </a:rPr>
              <a:t>·  CRC mismatch on port 20000</a:t>
            </a:r>
          </a:p>
        </p:txBody>
      </p:sp>
      <p:sp>
        <p:nvSpPr>
          <p:cNvPr id="75" name="Rectangle 74"/>
          <p:cNvSpPr/>
          <p:nvPr/>
        </p:nvSpPr>
        <p:spPr>
          <a:xfrm>
            <a:off x="5486400" y="17190720"/>
            <a:ext cx="4892040" cy="3310128"/>
          </a:xfrm>
          <a:prstGeom prst="rect">
            <a:avLst/>
          </a:prstGeom>
          <a:solidFill>
            <a:srgbClr val="131822"/>
          </a:solidFill>
          <a:ln w="12700">
            <a:solidFill>
              <a:srgbClr val="2A33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5486400" y="17190720"/>
            <a:ext cx="4892040" cy="3657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5486400" y="17190720"/>
            <a:ext cx="54864" cy="3310128"/>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5641848" y="17236440"/>
            <a:ext cx="4581144" cy="274320"/>
          </a:xfrm>
          <a:prstGeom prst="rect">
            <a:avLst/>
          </a:prstGeom>
          <a:noFill/>
        </p:spPr>
        <p:txBody>
          <a:bodyPr wrap="square" lIns="0" rIns="0" tIns="0" bIns="0">
            <a:spAutoFit/>
          </a:bodyPr>
          <a:lstStyle/>
          <a:p>
            <a:r>
              <a:rPr sz="1350" b="1">
                <a:solidFill>
                  <a:srgbClr val="0B0E14"/>
                </a:solidFill>
                <a:latin typeface="Segoe UI"/>
              </a:rPr>
              <a:t>9  </a:t>
            </a:r>
            <a:r>
              <a:rPr sz="1350" b="1">
                <a:solidFill>
                  <a:srgbClr val="0B0E14"/>
                </a:solidFill>
                <a:latin typeface="Segoe UI"/>
              </a:rPr>
              <a:t>HARDENING</a:t>
            </a:r>
          </a:p>
        </p:txBody>
      </p:sp>
      <p:sp>
        <p:nvSpPr>
          <p:cNvPr id="79" name="TextBox 78"/>
          <p:cNvSpPr txBox="1"/>
          <p:nvPr/>
        </p:nvSpPr>
        <p:spPr>
          <a:xfrm>
            <a:off x="5687568" y="17666208"/>
            <a:ext cx="4489704" cy="2286000"/>
          </a:xfrm>
          <a:prstGeom prst="rect">
            <a:avLst/>
          </a:prstGeom>
          <a:noFill/>
        </p:spPr>
        <p:txBody>
          <a:bodyPr wrap="square" lIns="0" rIns="0" tIns="0" bIns="0">
            <a:spAutoFit/>
          </a:bodyPr>
          <a:lstStyle/>
          <a:p>
            <a:pPr>
              <a:lnSpc>
                <a:spcPts val="1040"/>
              </a:lnSpc>
              <a:spcAft>
                <a:spcPts val="0"/>
              </a:spcAft>
            </a:pPr>
            <a:r>
              <a:rPr sz="900" b="1">
                <a:solidFill>
                  <a:srgbClr val="3DDC97"/>
                </a:solidFill>
                <a:latin typeface="Consolas"/>
              </a:rPr>
              <a:t>1. </a:t>
            </a:r>
            <a:r>
              <a:rPr sz="850" b="0">
                <a:solidFill>
                  <a:srgbClr val="E6EDF3"/>
                </a:solidFill>
                <a:latin typeface="Segoe UI"/>
              </a:rPr>
              <a:t>Allowlist master → outstation pairs on both IP and DNP3 link address. The network IS the access control.</a:t>
            </a:r>
          </a:p>
          <a:p>
            <a:pPr>
              <a:lnSpc>
                <a:spcPts val="1040"/>
              </a:lnSpc>
              <a:spcAft>
                <a:spcPts val="0"/>
              </a:spcAft>
            </a:pPr>
            <a:r>
              <a:rPr sz="900" b="1">
                <a:solidFill>
                  <a:srgbClr val="3DDC97"/>
                </a:solidFill>
                <a:latin typeface="Consolas"/>
              </a:rPr>
              <a:t>2. </a:t>
            </a:r>
            <a:r>
              <a:rPr sz="850" b="0">
                <a:solidFill>
                  <a:srgbClr val="E6EDF3"/>
                </a:solidFill>
                <a:latin typeface="Segoe UI"/>
              </a:rPr>
              <a:t>Never expose 20000 to the internet. Check Shodan and Censys against your own ASN.</a:t>
            </a:r>
          </a:p>
          <a:p>
            <a:pPr>
              <a:lnSpc>
                <a:spcPts val="1040"/>
              </a:lnSpc>
              <a:spcAft>
                <a:spcPts val="0"/>
              </a:spcAft>
            </a:pPr>
            <a:r>
              <a:rPr sz="900" b="1">
                <a:solidFill>
                  <a:srgbClr val="3DDC97"/>
                </a:solidFill>
                <a:latin typeface="Consolas"/>
              </a:rPr>
              <a:t>3. </a:t>
            </a:r>
            <a:r>
              <a:rPr sz="850" b="0">
                <a:solidFill>
                  <a:srgbClr val="E6EDF3"/>
                </a:solidFill>
                <a:latin typeface="Segoe UI"/>
              </a:rPr>
              <a:t>Enable DNP3-SAv5 where the devices support it — and record which function codes it actually covers.</a:t>
            </a:r>
          </a:p>
          <a:p>
            <a:pPr>
              <a:lnSpc>
                <a:spcPts val="1040"/>
              </a:lnSpc>
              <a:spcAft>
                <a:spcPts val="0"/>
              </a:spcAft>
            </a:pPr>
            <a:r>
              <a:rPr sz="900" b="1">
                <a:solidFill>
                  <a:srgbClr val="3DDC97"/>
                </a:solidFill>
                <a:latin typeface="Consolas"/>
              </a:rPr>
              <a:t>4. </a:t>
            </a:r>
            <a:r>
              <a:rPr sz="850" b="0">
                <a:solidFill>
                  <a:srgbClr val="E6EDF3"/>
                </a:solidFill>
                <a:latin typeface="Segoe UI"/>
              </a:rPr>
              <a:t>Disable Direct Operate at the outstation wherever the engineering standard says Select-Before-Operate.</a:t>
            </a:r>
          </a:p>
          <a:p>
            <a:pPr>
              <a:lnSpc>
                <a:spcPts val="1040"/>
              </a:lnSpc>
              <a:spcAft>
                <a:spcPts val="0"/>
              </a:spcAft>
            </a:pPr>
            <a:r>
              <a:rPr sz="900" b="1">
                <a:solidFill>
                  <a:srgbClr val="3DDC97"/>
                </a:solidFill>
                <a:latin typeface="Consolas"/>
              </a:rPr>
              <a:t>5. </a:t>
            </a:r>
            <a:r>
              <a:rPr sz="850" b="0">
                <a:solidFill>
                  <a:srgbClr val="E6EDF3"/>
                </a:solidFill>
                <a:latin typeface="Segoe UI"/>
              </a:rPr>
              <a:t>Assign link addresses uniquely, and suppress response to broadcast where the device allows it.</a:t>
            </a:r>
          </a:p>
          <a:p>
            <a:pPr>
              <a:lnSpc>
                <a:spcPts val="1040"/>
              </a:lnSpc>
              <a:spcAft>
                <a:spcPts val="0"/>
              </a:spcAft>
            </a:pPr>
            <a:r>
              <a:rPr sz="900" b="1">
                <a:solidFill>
                  <a:srgbClr val="3DDC97"/>
                </a:solidFill>
                <a:latin typeface="Consolas"/>
              </a:rPr>
              <a:t>6. </a:t>
            </a:r>
            <a:r>
              <a:rPr sz="850" b="0">
                <a:solidFill>
                  <a:srgbClr val="E6EDF3"/>
                </a:solidFill>
                <a:latin typeface="Segoe UI"/>
              </a:rPr>
              <a:t>Alarm on FC 13 / 14 / 18 / 21 and on any file operation, unconditionally.</a:t>
            </a:r>
          </a:p>
          <a:p>
            <a:pPr>
              <a:lnSpc>
                <a:spcPts val="1040"/>
              </a:lnSpc>
              <a:spcAft>
                <a:spcPts val="0"/>
              </a:spcAft>
            </a:pPr>
            <a:r>
              <a:rPr sz="900" b="1">
                <a:solidFill>
                  <a:srgbClr val="3DDC97"/>
                </a:solidFill>
                <a:latin typeface="Consolas"/>
              </a:rPr>
              <a:t>7. </a:t>
            </a:r>
            <a:r>
              <a:rPr sz="850" b="0">
                <a:solidFill>
                  <a:srgbClr val="E6EDF3"/>
                </a:solidFill>
                <a:latin typeface="Segoe UI"/>
              </a:rPr>
              <a:t>Log the IIN. Device Restart and Configuration Corrupt should page a human.</a:t>
            </a:r>
          </a:p>
          <a:p>
            <a:pPr>
              <a:lnSpc>
                <a:spcPts val="1040"/>
              </a:lnSpc>
              <a:spcAft>
                <a:spcPts val="0"/>
              </a:spcAft>
            </a:pPr>
            <a:r>
              <a:rPr sz="900" b="1">
                <a:solidFill>
                  <a:srgbClr val="3DDC97"/>
                </a:solidFill>
                <a:latin typeface="Consolas"/>
              </a:rPr>
              <a:t>8. </a:t>
            </a:r>
            <a:r>
              <a:rPr sz="850" b="0">
                <a:solidFill>
                  <a:srgbClr val="E6EDF3"/>
                </a:solidFill>
                <a:latin typeface="Segoe UI"/>
              </a:rPr>
              <a:t>Terminate serial tunnels at a known gateway. Inventory every terminal server and cellular router.</a:t>
            </a:r>
          </a:p>
          <a:p>
            <a:pPr>
              <a:lnSpc>
                <a:spcPts val="1040"/>
              </a:lnSpc>
              <a:spcAft>
                <a:spcPts val="0"/>
              </a:spcAft>
            </a:pPr>
            <a:r>
              <a:rPr sz="900" b="1">
                <a:solidFill>
                  <a:srgbClr val="3DDC97"/>
                </a:solidFill>
                <a:latin typeface="Consolas"/>
              </a:rPr>
              <a:t>9. </a:t>
            </a:r>
            <a:r>
              <a:rPr sz="850" b="0">
                <a:solidFill>
                  <a:srgbClr val="E6EDF3"/>
                </a:solidFill>
                <a:latin typeface="Segoe UI"/>
              </a:rPr>
              <a:t>Keep the point list with the capture — evidence without the device profile is half-blind.</a:t>
            </a:r>
          </a:p>
        </p:txBody>
      </p:sp>
      <p:sp>
        <p:nvSpPr>
          <p:cNvPr id="80" name="Rectangle 79"/>
          <p:cNvSpPr/>
          <p:nvPr/>
        </p:nvSpPr>
        <p:spPr>
          <a:xfrm>
            <a:off x="5687568" y="20043648"/>
            <a:ext cx="4489704" cy="347472"/>
          </a:xfrm>
          <a:prstGeom prst="rect">
            <a:avLst/>
          </a:prstGeom>
          <a:solidFill>
            <a:srgbClr val="19202C"/>
          </a:solidFill>
          <a:ln w="12700">
            <a:solidFill>
              <a:srgbClr val="2A33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5797296" y="20107656"/>
            <a:ext cx="4270248" cy="256032"/>
          </a:xfrm>
          <a:prstGeom prst="rect">
            <a:avLst/>
          </a:prstGeom>
          <a:noFill/>
        </p:spPr>
        <p:txBody>
          <a:bodyPr wrap="square" lIns="0" rIns="0" tIns="0" bIns="0">
            <a:spAutoFit/>
          </a:bodyPr>
          <a:lstStyle/>
          <a:p>
            <a:pPr algn="ctr"/>
            <a:r>
              <a:rPr sz="850" b="0">
                <a:solidFill>
                  <a:srgbClr val="8FA1B8"/>
                </a:solidFill>
                <a:latin typeface="Segoe UI"/>
              </a:rPr>
              <a:t>IEC 62443-3-3  ·  NIST SP 800-82r3  ·  NERC CIP-005 / 007  ·  IEEE 1815-2012 SAv5</a:t>
            </a:r>
          </a:p>
        </p:txBody>
      </p:sp>
      <p:sp>
        <p:nvSpPr>
          <p:cNvPr id="82" name="Rectangle 81"/>
          <p:cNvSpPr/>
          <p:nvPr/>
        </p:nvSpPr>
        <p:spPr>
          <a:xfrm>
            <a:off x="10561320" y="17190720"/>
            <a:ext cx="5486400" cy="3310128"/>
          </a:xfrm>
          <a:prstGeom prst="rect">
            <a:avLst/>
          </a:prstGeom>
          <a:solidFill>
            <a:srgbClr val="131822"/>
          </a:solidFill>
          <a:ln w="12700">
            <a:solidFill>
              <a:srgbClr val="2A33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10561320" y="17190720"/>
            <a:ext cx="5486400" cy="365760"/>
          </a:xfrm>
          <a:prstGeom prst="rect">
            <a:avLst/>
          </a:prstGeom>
          <a:solidFill>
            <a:srgbClr val="FF8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10561320" y="17190720"/>
            <a:ext cx="54864" cy="3310128"/>
          </a:xfrm>
          <a:prstGeom prst="rect">
            <a:avLst/>
          </a:prstGeom>
          <a:solidFill>
            <a:srgbClr val="FF8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10716768" y="17236440"/>
            <a:ext cx="5175504" cy="274320"/>
          </a:xfrm>
          <a:prstGeom prst="rect">
            <a:avLst/>
          </a:prstGeom>
          <a:noFill/>
        </p:spPr>
        <p:txBody>
          <a:bodyPr wrap="square" lIns="0" rIns="0" tIns="0" bIns="0">
            <a:spAutoFit/>
          </a:bodyPr>
          <a:lstStyle/>
          <a:p>
            <a:r>
              <a:rPr sz="1350" b="1">
                <a:solidFill>
                  <a:srgbClr val="0B0E14"/>
                </a:solidFill>
                <a:latin typeface="Segoe UI"/>
              </a:rPr>
              <a:t>10  </a:t>
            </a:r>
            <a:r>
              <a:rPr sz="1350" b="1">
                <a:solidFill>
                  <a:srgbClr val="0B0E14"/>
                </a:solidFill>
                <a:latin typeface="Segoe UI"/>
              </a:rPr>
              <a:t>ATT&amp;CK for ICS</a:t>
            </a:r>
          </a:p>
        </p:txBody>
      </p:sp>
      <p:sp>
        <p:nvSpPr>
          <p:cNvPr id="86" name="TextBox 85"/>
          <p:cNvSpPr txBox="1"/>
          <p:nvPr/>
        </p:nvSpPr>
        <p:spPr>
          <a:xfrm>
            <a:off x="10762488" y="17666208"/>
            <a:ext cx="5084064" cy="2194560"/>
          </a:xfrm>
          <a:prstGeom prst="rect">
            <a:avLst/>
          </a:prstGeom>
          <a:noFill/>
        </p:spPr>
        <p:txBody>
          <a:bodyPr wrap="square" lIns="0" rIns="0" tIns="0" bIns="0">
            <a:spAutoFit/>
          </a:bodyPr>
          <a:lstStyle/>
          <a:p>
            <a:pPr>
              <a:lnSpc>
                <a:spcPts val="1040"/>
              </a:lnSpc>
              <a:spcAft>
                <a:spcPts val="0"/>
              </a:spcAft>
            </a:pPr>
            <a:r>
              <a:rPr sz="850" b="1">
                <a:solidFill>
                  <a:srgbClr val="FF8A3D"/>
                </a:solidFill>
                <a:latin typeface="Consolas"/>
              </a:rPr>
              <a:t>T0846  </a:t>
            </a:r>
            <a:r>
              <a:rPr sz="850" b="1">
                <a:solidFill>
                  <a:srgbClr val="E6EDF3"/>
                </a:solidFill>
                <a:latin typeface="Segoe UI"/>
              </a:rPr>
              <a:t>Remote System Discovery      </a:t>
            </a:r>
            <a:r>
              <a:rPr sz="800" b="0">
                <a:solidFill>
                  <a:srgbClr val="8FA1B8"/>
                </a:solidFill>
                <a:latin typeface="Segoe UI"/>
              </a:rPr>
              <a:t>scanning tcp/20000</a:t>
            </a:r>
          </a:p>
          <a:p>
            <a:pPr>
              <a:lnSpc>
                <a:spcPts val="1040"/>
              </a:lnSpc>
              <a:spcAft>
                <a:spcPts val="0"/>
              </a:spcAft>
            </a:pPr>
            <a:r>
              <a:rPr sz="850" b="1">
                <a:solidFill>
                  <a:srgbClr val="FF8A3D"/>
                </a:solidFill>
                <a:latin typeface="Consolas"/>
              </a:rPr>
              <a:t>T0888  </a:t>
            </a:r>
            <a:r>
              <a:rPr sz="850" b="1">
                <a:solidFill>
                  <a:srgbClr val="E6EDF3"/>
                </a:solidFill>
                <a:latin typeface="Segoe UI"/>
              </a:rPr>
              <a:t>Remote System Info Discovery </a:t>
            </a:r>
            <a:r>
              <a:rPr sz="800" b="0">
                <a:solidFill>
                  <a:srgbClr val="8FA1B8"/>
                </a:solidFill>
                <a:latin typeface="Segoe UI"/>
              </a:rPr>
              <a:t>Class 0 integrity poll</a:t>
            </a:r>
          </a:p>
          <a:p>
            <a:pPr>
              <a:lnSpc>
                <a:spcPts val="1040"/>
              </a:lnSpc>
              <a:spcAft>
                <a:spcPts val="0"/>
              </a:spcAft>
            </a:pPr>
            <a:r>
              <a:rPr sz="850" b="1">
                <a:solidFill>
                  <a:srgbClr val="FF8A3D"/>
                </a:solidFill>
                <a:latin typeface="Consolas"/>
              </a:rPr>
              <a:t>T0840  </a:t>
            </a:r>
            <a:r>
              <a:rPr sz="850" b="1">
                <a:solidFill>
                  <a:srgbClr val="E6EDF3"/>
                </a:solidFill>
                <a:latin typeface="Segoe UI"/>
              </a:rPr>
              <a:t>Network Connection Enum      </a:t>
            </a:r>
            <a:r>
              <a:rPr sz="800" b="0">
                <a:solidFill>
                  <a:srgbClr val="8FA1B8"/>
                </a:solidFill>
                <a:latin typeface="Segoe UI"/>
              </a:rPr>
              <a:t>link-address sweep</a:t>
            </a:r>
          </a:p>
          <a:p>
            <a:pPr>
              <a:lnSpc>
                <a:spcPts val="1040"/>
              </a:lnSpc>
              <a:spcAft>
                <a:spcPts val="0"/>
              </a:spcAft>
            </a:pPr>
            <a:r>
              <a:rPr sz="850" b="1">
                <a:solidFill>
                  <a:srgbClr val="FF8A3D"/>
                </a:solidFill>
                <a:latin typeface="Consolas"/>
              </a:rPr>
              <a:t>T0885  </a:t>
            </a:r>
            <a:r>
              <a:rPr sz="850" b="1">
                <a:solidFill>
                  <a:srgbClr val="E6EDF3"/>
                </a:solidFill>
                <a:latin typeface="Segoe UI"/>
              </a:rPr>
              <a:t>Commonly Used Port           </a:t>
            </a:r>
            <a:r>
              <a:rPr sz="800" b="0">
                <a:solidFill>
                  <a:srgbClr val="8FA1B8"/>
                </a:solidFill>
                <a:latin typeface="Segoe UI"/>
              </a:rPr>
              <a:t>20000/tcp, 20000/udp</a:t>
            </a:r>
          </a:p>
          <a:p>
            <a:pPr>
              <a:lnSpc>
                <a:spcPts val="1040"/>
              </a:lnSpc>
              <a:spcAft>
                <a:spcPts val="0"/>
              </a:spcAft>
            </a:pPr>
            <a:r>
              <a:rPr sz="850" b="1">
                <a:solidFill>
                  <a:srgbClr val="FF8A3D"/>
                </a:solidFill>
                <a:latin typeface="Consolas"/>
              </a:rPr>
              <a:t>T0855  </a:t>
            </a:r>
            <a:r>
              <a:rPr sz="850" b="1">
                <a:solidFill>
                  <a:srgbClr val="E6EDF3"/>
                </a:solidFill>
                <a:latin typeface="Segoe UI"/>
              </a:rPr>
              <a:t>Unauthorized Command Message </a:t>
            </a:r>
            <a:r>
              <a:rPr sz="800" b="0">
                <a:solidFill>
                  <a:srgbClr val="8FA1B8"/>
                </a:solidFill>
                <a:latin typeface="Segoe UI"/>
              </a:rPr>
              <a:t>Select / Operate from non-master</a:t>
            </a:r>
          </a:p>
          <a:p>
            <a:pPr>
              <a:lnSpc>
                <a:spcPts val="1040"/>
              </a:lnSpc>
              <a:spcAft>
                <a:spcPts val="0"/>
              </a:spcAft>
            </a:pPr>
            <a:r>
              <a:rPr sz="850" b="1">
                <a:solidFill>
                  <a:srgbClr val="FF8A3D"/>
                </a:solidFill>
                <a:latin typeface="Consolas"/>
              </a:rPr>
              <a:t>T0831  </a:t>
            </a:r>
            <a:r>
              <a:rPr sz="850" b="1">
                <a:solidFill>
                  <a:srgbClr val="E6EDF3"/>
                </a:solidFill>
                <a:latin typeface="Segoe UI"/>
              </a:rPr>
              <a:t>Manipulation of Control      </a:t>
            </a:r>
            <a:r>
              <a:rPr sz="800" b="0">
                <a:solidFill>
                  <a:srgbClr val="8FA1B8"/>
                </a:solidFill>
                <a:latin typeface="Segoe UI"/>
              </a:rPr>
              <a:t>CROB Operate on a breaker</a:t>
            </a:r>
          </a:p>
          <a:p>
            <a:pPr>
              <a:lnSpc>
                <a:spcPts val="1040"/>
              </a:lnSpc>
              <a:spcAft>
                <a:spcPts val="0"/>
              </a:spcAft>
            </a:pPr>
            <a:r>
              <a:rPr sz="850" b="1">
                <a:solidFill>
                  <a:srgbClr val="FF8A3D"/>
                </a:solidFill>
                <a:latin typeface="Consolas"/>
              </a:rPr>
              <a:t>T0836  </a:t>
            </a:r>
            <a:r>
              <a:rPr sz="850" b="1">
                <a:solidFill>
                  <a:srgbClr val="E6EDF3"/>
                </a:solidFill>
                <a:latin typeface="Segoe UI"/>
              </a:rPr>
              <a:t>Modify Parameter             </a:t>
            </a:r>
            <a:r>
              <a:rPr sz="800" b="0">
                <a:solidFill>
                  <a:srgbClr val="8FA1B8"/>
                </a:solidFill>
                <a:latin typeface="Segoe UI"/>
              </a:rPr>
              <a:t>Write, AO block, Save/Activate Config</a:t>
            </a:r>
          </a:p>
          <a:p>
            <a:pPr>
              <a:lnSpc>
                <a:spcPts val="1040"/>
              </a:lnSpc>
              <a:spcAft>
                <a:spcPts val="0"/>
              </a:spcAft>
            </a:pPr>
            <a:r>
              <a:rPr sz="850" b="1">
                <a:solidFill>
                  <a:srgbClr val="FF8A3D"/>
                </a:solidFill>
                <a:latin typeface="Consolas"/>
              </a:rPr>
              <a:t>T0806  </a:t>
            </a:r>
            <a:r>
              <a:rPr sz="850" b="1">
                <a:solidFill>
                  <a:srgbClr val="E6EDF3"/>
                </a:solidFill>
                <a:latin typeface="Segoe UI"/>
              </a:rPr>
              <a:t>Brute Force I/O              </a:t>
            </a:r>
            <a:r>
              <a:rPr sz="800" b="0">
                <a:solidFill>
                  <a:srgbClr val="8FA1B8"/>
                </a:solidFill>
                <a:latin typeface="Segoe UI"/>
              </a:rPr>
              <a:t>Select/Operate sweep across indices</a:t>
            </a:r>
          </a:p>
          <a:p>
            <a:pPr>
              <a:lnSpc>
                <a:spcPts val="1040"/>
              </a:lnSpc>
              <a:spcAft>
                <a:spcPts val="0"/>
              </a:spcAft>
            </a:pPr>
            <a:r>
              <a:rPr sz="850" b="1">
                <a:solidFill>
                  <a:srgbClr val="FF8A3D"/>
                </a:solidFill>
                <a:latin typeface="Consolas"/>
              </a:rPr>
              <a:t>T0816  </a:t>
            </a:r>
            <a:r>
              <a:rPr sz="850" b="1">
                <a:solidFill>
                  <a:srgbClr val="E6EDF3"/>
                </a:solidFill>
                <a:latin typeface="Segoe UI"/>
              </a:rPr>
              <a:t>Device Restart / Shutdown    </a:t>
            </a:r>
            <a:r>
              <a:rPr sz="800" b="0">
                <a:solidFill>
                  <a:srgbClr val="8FA1B8"/>
                </a:solidFill>
                <a:latin typeface="Segoe UI"/>
              </a:rPr>
              <a:t>FC 13 / 14, Stop Application 18</a:t>
            </a:r>
          </a:p>
          <a:p>
            <a:pPr>
              <a:lnSpc>
                <a:spcPts val="1040"/>
              </a:lnSpc>
              <a:spcAft>
                <a:spcPts val="0"/>
              </a:spcAft>
            </a:pPr>
            <a:r>
              <a:rPr sz="850" b="1">
                <a:solidFill>
                  <a:srgbClr val="FF8A3D"/>
                </a:solidFill>
                <a:latin typeface="Consolas"/>
              </a:rPr>
              <a:t>T0815  </a:t>
            </a:r>
            <a:r>
              <a:rPr sz="850" b="1">
                <a:solidFill>
                  <a:srgbClr val="E6EDF3"/>
                </a:solidFill>
                <a:latin typeface="Segoe UI"/>
              </a:rPr>
              <a:t>Denial of View               </a:t>
            </a:r>
            <a:r>
              <a:rPr sz="800" b="0">
                <a:solidFill>
                  <a:srgbClr val="8FA1B8"/>
                </a:solidFill>
                <a:latin typeface="Segoe UI"/>
              </a:rPr>
              <a:t>Disable Unsolicited 21</a:t>
            </a:r>
          </a:p>
          <a:p>
            <a:pPr>
              <a:lnSpc>
                <a:spcPts val="1040"/>
              </a:lnSpc>
              <a:spcAft>
                <a:spcPts val="0"/>
              </a:spcAft>
            </a:pPr>
            <a:r>
              <a:rPr sz="850" b="1">
                <a:solidFill>
                  <a:srgbClr val="FF8A3D"/>
                </a:solidFill>
                <a:latin typeface="Consolas"/>
              </a:rPr>
              <a:t>T0814  </a:t>
            </a:r>
            <a:r>
              <a:rPr sz="850" b="1">
                <a:solidFill>
                  <a:srgbClr val="E6EDF3"/>
                </a:solidFill>
                <a:latin typeface="Segoe UI"/>
              </a:rPr>
              <a:t>Denial of Service            </a:t>
            </a:r>
            <a:r>
              <a:rPr sz="800" b="0">
                <a:solidFill>
                  <a:srgbClr val="8FA1B8"/>
                </a:solidFill>
                <a:latin typeface="Segoe UI"/>
              </a:rPr>
              <a:t>poll starvation, restart bursts</a:t>
            </a:r>
          </a:p>
          <a:p>
            <a:pPr>
              <a:lnSpc>
                <a:spcPts val="1040"/>
              </a:lnSpc>
              <a:spcAft>
                <a:spcPts val="0"/>
              </a:spcAft>
            </a:pPr>
            <a:r>
              <a:rPr sz="850" b="1">
                <a:solidFill>
                  <a:srgbClr val="FF8A3D"/>
                </a:solidFill>
                <a:latin typeface="Consolas"/>
              </a:rPr>
              <a:t>T0856  </a:t>
            </a:r>
            <a:r>
              <a:rPr sz="850" b="1">
                <a:solidFill>
                  <a:srgbClr val="E6EDF3"/>
                </a:solidFill>
                <a:latin typeface="Segoe UI"/>
              </a:rPr>
              <a:t>Spoof Reporting Message      </a:t>
            </a:r>
            <a:r>
              <a:rPr sz="800" b="0">
                <a:solidFill>
                  <a:srgbClr val="8FA1B8"/>
                </a:solidFill>
                <a:latin typeface="Segoe UI"/>
              </a:rPr>
              <a:t>injected Unsolicited Responses</a:t>
            </a:r>
          </a:p>
          <a:p>
            <a:pPr>
              <a:lnSpc>
                <a:spcPts val="1040"/>
              </a:lnSpc>
              <a:spcAft>
                <a:spcPts val="0"/>
              </a:spcAft>
            </a:pPr>
            <a:r>
              <a:rPr sz="850" b="1">
                <a:solidFill>
                  <a:srgbClr val="FF8A3D"/>
                </a:solidFill>
                <a:latin typeface="Consolas"/>
              </a:rPr>
              <a:t>T0845  </a:t>
            </a:r>
            <a:r>
              <a:rPr sz="850" b="1">
                <a:solidFill>
                  <a:srgbClr val="E6EDF3"/>
                </a:solidFill>
                <a:latin typeface="Segoe UI"/>
              </a:rPr>
              <a:t>Program Upload               </a:t>
            </a:r>
            <a:r>
              <a:rPr sz="800" b="0">
                <a:solidFill>
                  <a:srgbClr val="8FA1B8"/>
                </a:solidFill>
                <a:latin typeface="Segoe UI"/>
              </a:rPr>
              <a:t>file operations 25–30</a:t>
            </a:r>
          </a:p>
          <a:p>
            <a:pPr>
              <a:lnSpc>
                <a:spcPts val="1040"/>
              </a:lnSpc>
              <a:spcAft>
                <a:spcPts val="0"/>
              </a:spcAft>
            </a:pPr>
            <a:r>
              <a:rPr sz="850" b="1">
                <a:solidFill>
                  <a:srgbClr val="FF8A3D"/>
                </a:solidFill>
                <a:latin typeface="Consolas"/>
              </a:rPr>
              <a:t>T0800  </a:t>
            </a:r>
            <a:r>
              <a:rPr sz="850" b="1">
                <a:solidFill>
                  <a:srgbClr val="E6EDF3"/>
                </a:solidFill>
                <a:latin typeface="Segoe UI"/>
              </a:rPr>
              <a:t>Activate Firmware Update Mode</a:t>
            </a:r>
            <a:r>
              <a:rPr sz="800" b="0">
                <a:solidFill>
                  <a:srgbClr val="8FA1B8"/>
                </a:solidFill>
                <a:latin typeface="Segoe UI"/>
              </a:rPr>
              <a:t>file ops staging firmware</a:t>
            </a:r>
          </a:p>
        </p:txBody>
      </p:sp>
      <p:sp>
        <p:nvSpPr>
          <p:cNvPr id="87" name="Rectangle 86"/>
          <p:cNvSpPr/>
          <p:nvPr/>
        </p:nvSpPr>
        <p:spPr>
          <a:xfrm>
            <a:off x="10762488" y="19824192"/>
            <a:ext cx="5084064" cy="566928"/>
          </a:xfrm>
          <a:prstGeom prst="rect">
            <a:avLst/>
          </a:prstGeom>
          <a:solidFill>
            <a:srgbClr val="19202C"/>
          </a:solidFill>
          <a:ln w="12700">
            <a:solidFill>
              <a:srgbClr val="FF4D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10890504" y="19888200"/>
            <a:ext cx="4828031" cy="438912"/>
          </a:xfrm>
          <a:prstGeom prst="rect">
            <a:avLst/>
          </a:prstGeom>
          <a:noFill/>
        </p:spPr>
        <p:txBody>
          <a:bodyPr wrap="square" lIns="0" rIns="0" tIns="0" bIns="0">
            <a:spAutoFit/>
          </a:bodyPr>
          <a:lstStyle/>
          <a:p>
            <a:pPr>
              <a:lnSpc>
                <a:spcPts val="1150"/>
              </a:lnSpc>
            </a:pPr>
            <a:r>
              <a:rPr sz="950" b="1">
                <a:solidFill>
                  <a:srgbClr val="FF4D5E"/>
                </a:solidFill>
                <a:latin typeface="Segoe UI"/>
              </a:rPr>
              <a:t>SEEN IN THE WILD</a:t>
            </a:r>
          </a:p>
          <a:p>
            <a:pPr>
              <a:lnSpc>
                <a:spcPts val="1019"/>
              </a:lnSpc>
            </a:pPr>
            <a:r>
              <a:rPr sz="850" b="0">
                <a:solidFill>
                  <a:srgbClr val="E6EDF3"/>
                </a:solidFill>
                <a:latin typeface="Segoe UI"/>
              </a:rPr>
              <a:t>Project Robus — Crain &amp; Sistrunk, 2013–14. Dozens of DNP3 stack flaws disclosed through ICS-CERT; a malformed frame from an </a:t>
            </a:r>
            <a:r>
              <a:rPr sz="850" b="1">
                <a:solidFill>
                  <a:srgbClr val="FF8A3D"/>
                </a:solidFill>
                <a:latin typeface="Segoe UI"/>
              </a:rPr>
              <a:t>outstation</a:t>
            </a:r>
            <a:r>
              <a:rPr sz="850" b="0">
                <a:solidFill>
                  <a:srgbClr val="E6EDF3"/>
                </a:solidFill>
                <a:latin typeface="Segoe UI"/>
              </a:rPr>
              <a:t> could crash the </a:t>
            </a:r>
            <a:r>
              <a:rPr sz="850" b="1">
                <a:solidFill>
                  <a:srgbClr val="FF8A3D"/>
                </a:solidFill>
                <a:latin typeface="Segoe UI"/>
              </a:rPr>
              <a:t>master</a:t>
            </a:r>
            <a:r>
              <a:rPr sz="850" b="0">
                <a:solidFill>
                  <a:srgbClr val="E6EDF3"/>
                </a:solidFill>
                <a:latin typeface="Segoe UI"/>
              </a:rPr>
              <a:t>. The trust runs both ways.</a:t>
            </a:r>
          </a:p>
        </p:txBody>
      </p:sp>
      <p:sp>
        <p:nvSpPr>
          <p:cNvPr id="89" name="Rectangle 88"/>
          <p:cNvSpPr/>
          <p:nvPr/>
        </p:nvSpPr>
        <p:spPr>
          <a:xfrm>
            <a:off x="411480" y="20647152"/>
            <a:ext cx="15636240" cy="566928"/>
          </a:xfrm>
          <a:prstGeom prst="rect">
            <a:avLst/>
          </a:prstGeom>
          <a:solidFill>
            <a:srgbClr val="19202C"/>
          </a:solidFill>
          <a:ln w="12700">
            <a:solidFill>
              <a:srgbClr val="2A33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411480" y="20647152"/>
            <a:ext cx="15636240" cy="45720"/>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640080" y="20775168"/>
            <a:ext cx="11338560" cy="384048"/>
          </a:xfrm>
          <a:prstGeom prst="rect">
            <a:avLst/>
          </a:prstGeom>
          <a:noFill/>
        </p:spPr>
        <p:txBody>
          <a:bodyPr wrap="square" lIns="0" rIns="0" tIns="0" bIns="0">
            <a:spAutoFit/>
          </a:bodyPr>
          <a:lstStyle/>
          <a:p>
            <a:pPr>
              <a:lnSpc>
                <a:spcPts val="1050"/>
              </a:lnSpc>
            </a:pPr>
            <a:r>
              <a:rPr sz="850" b="0">
                <a:solidFill>
                  <a:srgbClr val="8FA1B8"/>
                </a:solidFill>
                <a:latin typeface="Segoe UI"/>
              </a:rPr>
              <a:t>Function codes, object groups, IIN bits and detection syntax verified against IEEE 1815-2012, the DNP Users Group object library, the Wireshark DNP3 dissector (packet-dnp3.c) and CISA/INL ICSNPP-DNP3.</a:t>
            </a:r>
          </a:p>
          <a:p>
            <a:pPr>
              <a:lnSpc>
                <a:spcPts val="1050"/>
              </a:lnSpc>
            </a:pPr>
            <a:r>
              <a:rPr sz="850" b="0">
                <a:solidFill>
                  <a:srgbClr val="64748B"/>
                </a:solidFill>
                <a:latin typeface="Segoe UI"/>
              </a:rPr>
              <a:t>Lab reference only — exercise against equipment you are authorised to test. An Operate is a breaker, not a finding. No client data.</a:t>
            </a:r>
          </a:p>
        </p:txBody>
      </p:sp>
      <p:sp>
        <p:nvSpPr>
          <p:cNvPr id="92" name="TextBox 91"/>
          <p:cNvSpPr txBox="1"/>
          <p:nvPr/>
        </p:nvSpPr>
        <p:spPr>
          <a:xfrm>
            <a:off x="11841480" y="20775168"/>
            <a:ext cx="3977639" cy="384048"/>
          </a:xfrm>
          <a:prstGeom prst="rect">
            <a:avLst/>
          </a:prstGeom>
          <a:noFill/>
        </p:spPr>
        <p:txBody>
          <a:bodyPr wrap="square" lIns="0" rIns="0" tIns="0" bIns="0">
            <a:spAutoFit/>
          </a:bodyPr>
          <a:lstStyle/>
          <a:p>
            <a:pPr algn="r">
              <a:lnSpc>
                <a:spcPts val="1100"/>
              </a:lnSpc>
            </a:pPr>
            <a:r>
              <a:rPr sz="950" b="1">
                <a:solidFill>
                  <a:srgbClr val="FFB020"/>
                </a:solidFill>
                <a:latin typeface="Segoe UI"/>
              </a:rPr>
              <a:t>DNP3 — ATTACK &amp; DEFEND</a:t>
            </a:r>
          </a:p>
          <a:p>
            <a:pPr algn="r">
              <a:lnSpc>
                <a:spcPts val="1100"/>
              </a:lnSpc>
            </a:pPr>
            <a:r>
              <a:rPr sz="850" b="0">
                <a:solidFill>
                  <a:srgbClr val="8FA1B8"/>
                </a:solidFill>
                <a:latin typeface="Segoe UI"/>
              </a:rPr>
              <a:t>v1.0  ·  September 2026  ·  print at 18 × 24 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